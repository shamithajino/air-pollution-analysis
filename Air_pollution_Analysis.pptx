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ontserrat Bold" charset="1" panose="00000800000000000000"/>
      <p:regular r:id="rId22"/>
    </p:embeddedFont>
    <p:embeddedFont>
      <p:font typeface="Open Sauce Bold" charset="1" panose="00000800000000000000"/>
      <p:regular r:id="rId23"/>
    </p:embeddedFont>
    <p:embeddedFont>
      <p:font typeface="Open Sauce" charset="1" panose="00000500000000000000"/>
      <p:regular r:id="rId24"/>
    </p:embeddedFont>
    <p:embeddedFont>
      <p:font typeface="Open Sauce Bold Italics" charset="1" panose="0000080000000000000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.png" Type="http://schemas.openxmlformats.org/officeDocument/2006/relationships/image"/><Relationship Id="rId11" Target="../media/image14.svg" Type="http://schemas.openxmlformats.org/officeDocument/2006/relationships/image"/><Relationship Id="rId12" Target="../media/image15.png" Type="http://schemas.openxmlformats.org/officeDocument/2006/relationships/image"/><Relationship Id="rId13" Target="../media/image16.svg" Type="http://schemas.openxmlformats.org/officeDocument/2006/relationships/image"/><Relationship Id="rId14" Target="../media/image17.png" Type="http://schemas.openxmlformats.org/officeDocument/2006/relationships/image"/><Relationship Id="rId15" Target="../media/image18.svg" Type="http://schemas.openxmlformats.org/officeDocument/2006/relationships/image"/><Relationship Id="rId16" Target="../media/image3.png" Type="http://schemas.openxmlformats.org/officeDocument/2006/relationships/image"/><Relationship Id="rId17" Target="../media/image4.svg" Type="http://schemas.openxmlformats.org/officeDocument/2006/relationships/image"/><Relationship Id="rId18" Target="../media/image19.jpeg" Type="http://schemas.openxmlformats.org/officeDocument/2006/relationships/image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jpeg" Type="http://schemas.openxmlformats.org/officeDocument/2006/relationships/image"/><Relationship Id="rId8" Target="../media/image11.png" Type="http://schemas.openxmlformats.org/officeDocument/2006/relationships/image"/><Relationship Id="rId9" Target="../media/image1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5.png" Type="http://schemas.openxmlformats.org/officeDocument/2006/relationships/image"/><Relationship Id="rId5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2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0.png" Type="http://schemas.openxmlformats.org/officeDocument/2006/relationships/image"/><Relationship Id="rId5" Target="../media/image3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34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5.jpeg" Type="http://schemas.openxmlformats.org/officeDocument/2006/relationships/image"/><Relationship Id="rId3" Target="../media/image36.jpeg" Type="http://schemas.openxmlformats.org/officeDocument/2006/relationships/image"/><Relationship Id="rId4" Target="../media/image37.jpeg" Type="http://schemas.openxmlformats.org/officeDocument/2006/relationships/image"/><Relationship Id="rId5" Target="../media/image38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9.jpeg" Type="http://schemas.openxmlformats.org/officeDocument/2006/relationships/image"/><Relationship Id="rId3" Target="../media/image40.jpeg" Type="http://schemas.openxmlformats.org/officeDocument/2006/relationships/image"/><Relationship Id="rId4" Target="../media/image41.jpeg" Type="http://schemas.openxmlformats.org/officeDocument/2006/relationships/image"/><Relationship Id="rId5" Target="../media/image42.png" Type="http://schemas.openxmlformats.org/officeDocument/2006/relationships/image"/><Relationship Id="rId6" Target="../media/image43.svg" Type="http://schemas.openxmlformats.org/officeDocument/2006/relationships/image"/><Relationship Id="rId7" Target="../media/image44.png" Type="http://schemas.openxmlformats.org/officeDocument/2006/relationships/image"/><Relationship Id="rId8" Target="../media/image45.svg" Type="http://schemas.openxmlformats.org/officeDocument/2006/relationships/image"/><Relationship Id="rId9" Target="../media/image46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669820" y="3176500"/>
            <a:ext cx="8147454" cy="3377337"/>
            <a:chOff x="0" y="0"/>
            <a:chExt cx="1469584" cy="60918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469584" cy="609182"/>
            </a:xfrm>
            <a:custGeom>
              <a:avLst/>
              <a:gdLst/>
              <a:ahLst/>
              <a:cxnLst/>
              <a:rect r="r" b="b" t="t" l="l"/>
              <a:pathLst>
                <a:path h="609182" w="1469584">
                  <a:moveTo>
                    <a:pt x="19005" y="0"/>
                  </a:moveTo>
                  <a:lnTo>
                    <a:pt x="1450579" y="0"/>
                  </a:lnTo>
                  <a:cubicBezTo>
                    <a:pt x="1455620" y="0"/>
                    <a:pt x="1460454" y="2002"/>
                    <a:pt x="1464018" y="5566"/>
                  </a:cubicBezTo>
                  <a:cubicBezTo>
                    <a:pt x="1467582" y="9130"/>
                    <a:pt x="1469584" y="13964"/>
                    <a:pt x="1469584" y="19005"/>
                  </a:cubicBezTo>
                  <a:lnTo>
                    <a:pt x="1469584" y="590177"/>
                  </a:lnTo>
                  <a:cubicBezTo>
                    <a:pt x="1469584" y="595217"/>
                    <a:pt x="1467582" y="600051"/>
                    <a:pt x="1464018" y="603615"/>
                  </a:cubicBezTo>
                  <a:cubicBezTo>
                    <a:pt x="1460454" y="607179"/>
                    <a:pt x="1455620" y="609182"/>
                    <a:pt x="1450579" y="609182"/>
                  </a:cubicBezTo>
                  <a:lnTo>
                    <a:pt x="19005" y="609182"/>
                  </a:lnTo>
                  <a:cubicBezTo>
                    <a:pt x="13964" y="609182"/>
                    <a:pt x="9130" y="607179"/>
                    <a:pt x="5566" y="603615"/>
                  </a:cubicBezTo>
                  <a:cubicBezTo>
                    <a:pt x="2002" y="600051"/>
                    <a:pt x="0" y="595217"/>
                    <a:pt x="0" y="590177"/>
                  </a:cubicBezTo>
                  <a:lnTo>
                    <a:pt x="0" y="19005"/>
                  </a:lnTo>
                  <a:cubicBezTo>
                    <a:pt x="0" y="13964"/>
                    <a:pt x="2002" y="9130"/>
                    <a:pt x="5566" y="5566"/>
                  </a:cubicBezTo>
                  <a:cubicBezTo>
                    <a:pt x="9130" y="2002"/>
                    <a:pt x="13964" y="0"/>
                    <a:pt x="1900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0423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015081" y="3176500"/>
            <a:ext cx="6571895" cy="3377337"/>
            <a:chOff x="0" y="0"/>
            <a:chExt cx="1185395" cy="609182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85395" cy="609182"/>
            </a:xfrm>
            <a:custGeom>
              <a:avLst/>
              <a:gdLst/>
              <a:ahLst/>
              <a:cxnLst/>
              <a:rect r="r" b="b" t="t" l="l"/>
              <a:pathLst>
                <a:path h="609182" w="1185395">
                  <a:moveTo>
                    <a:pt x="23561" y="0"/>
                  </a:moveTo>
                  <a:lnTo>
                    <a:pt x="1161834" y="0"/>
                  </a:lnTo>
                  <a:cubicBezTo>
                    <a:pt x="1168083" y="0"/>
                    <a:pt x="1174076" y="2482"/>
                    <a:pt x="1178494" y="6901"/>
                  </a:cubicBezTo>
                  <a:cubicBezTo>
                    <a:pt x="1182913" y="11319"/>
                    <a:pt x="1185395" y="17312"/>
                    <a:pt x="1185395" y="23561"/>
                  </a:cubicBezTo>
                  <a:lnTo>
                    <a:pt x="1185395" y="585621"/>
                  </a:lnTo>
                  <a:cubicBezTo>
                    <a:pt x="1185395" y="591870"/>
                    <a:pt x="1182913" y="597862"/>
                    <a:pt x="1178494" y="602281"/>
                  </a:cubicBezTo>
                  <a:cubicBezTo>
                    <a:pt x="1174076" y="606699"/>
                    <a:pt x="1168083" y="609182"/>
                    <a:pt x="1161834" y="609182"/>
                  </a:cubicBezTo>
                  <a:lnTo>
                    <a:pt x="23561" y="609182"/>
                  </a:lnTo>
                  <a:cubicBezTo>
                    <a:pt x="17312" y="609182"/>
                    <a:pt x="11319" y="606699"/>
                    <a:pt x="6901" y="602281"/>
                  </a:cubicBezTo>
                  <a:cubicBezTo>
                    <a:pt x="2482" y="597862"/>
                    <a:pt x="0" y="591870"/>
                    <a:pt x="0" y="585621"/>
                  </a:cubicBezTo>
                  <a:lnTo>
                    <a:pt x="0" y="23561"/>
                  </a:lnTo>
                  <a:cubicBezTo>
                    <a:pt x="0" y="17312"/>
                    <a:pt x="2482" y="11319"/>
                    <a:pt x="6901" y="6901"/>
                  </a:cubicBezTo>
                  <a:cubicBezTo>
                    <a:pt x="11319" y="2482"/>
                    <a:pt x="17312" y="0"/>
                    <a:pt x="23561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71617" r="0" b="-71617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0" y="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45038" y="673404"/>
            <a:ext cx="11052601" cy="2053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07"/>
              </a:lnSpc>
            </a:pPr>
            <a:r>
              <a:rPr lang="en-US" b="true" sz="6428" spc="-417">
                <a:solidFill>
                  <a:srgbClr val="7C574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AIR POLLUTION ANALYSIS</a:t>
            </a:r>
          </a:p>
          <a:p>
            <a:pPr algn="ctr">
              <a:lnSpc>
                <a:spcPts val="6480"/>
              </a:lnSpc>
              <a:spcBef>
                <a:spcPct val="0"/>
              </a:spcBef>
            </a:pPr>
            <a:r>
              <a:rPr lang="en-US" b="true" sz="4628" spc="-314">
                <a:solidFill>
                  <a:srgbClr val="968C9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(2002- 2024)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00848" y="7133059"/>
            <a:ext cx="8205254" cy="127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39"/>
              </a:lnSpc>
            </a:pPr>
            <a:r>
              <a:rPr lang="en-US" b="true" sz="2599" spc="-12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Shamitha Joseph </a:t>
            </a:r>
          </a:p>
          <a:p>
            <a:pPr algn="ctr">
              <a:lnSpc>
                <a:spcPts val="3359"/>
              </a:lnSpc>
            </a:pPr>
            <a:r>
              <a:rPr lang="en-US" b="true" sz="2399" spc="-119">
                <a:solidFill>
                  <a:srgbClr val="968C9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Nashville Software School</a:t>
            </a:r>
          </a:p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b="true" sz="2399" spc="-119">
                <a:solidFill>
                  <a:srgbClr val="968C9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March 2026   |   Nashville, TN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5400000">
            <a:off x="0" y="788670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5400000">
            <a:off x="15887700" y="-33973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-10800000">
            <a:off x="15887700" y="805815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98"/>
            <a:ext cx="2157608" cy="2157608"/>
          </a:xfrm>
          <a:custGeom>
            <a:avLst/>
            <a:gdLst/>
            <a:ahLst/>
            <a:cxnLst/>
            <a:rect r="r" b="b" t="t" l="l"/>
            <a:pathLst>
              <a:path h="2157608" w="2157608">
                <a:moveTo>
                  <a:pt x="0" y="0"/>
                </a:moveTo>
                <a:lnTo>
                  <a:pt x="2157608" y="0"/>
                </a:lnTo>
                <a:lnTo>
                  <a:pt x="2157608" y="2157608"/>
                </a:lnTo>
                <a:lnTo>
                  <a:pt x="0" y="21576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918834" y="40998"/>
            <a:ext cx="2369166" cy="2369166"/>
          </a:xfrm>
          <a:custGeom>
            <a:avLst/>
            <a:gdLst/>
            <a:ahLst/>
            <a:cxnLst/>
            <a:rect r="r" b="b" t="t" l="l"/>
            <a:pathLst>
              <a:path h="2369166" w="2369166">
                <a:moveTo>
                  <a:pt x="0" y="0"/>
                </a:moveTo>
                <a:lnTo>
                  <a:pt x="2369166" y="0"/>
                </a:lnTo>
                <a:lnTo>
                  <a:pt x="2369166" y="2369166"/>
                </a:lnTo>
                <a:lnTo>
                  <a:pt x="0" y="2369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0" y="7917834"/>
            <a:ext cx="2369166" cy="2369166"/>
          </a:xfrm>
          <a:custGeom>
            <a:avLst/>
            <a:gdLst/>
            <a:ahLst/>
            <a:cxnLst/>
            <a:rect r="r" b="b" t="t" l="l"/>
            <a:pathLst>
              <a:path h="2369166" w="2369166">
                <a:moveTo>
                  <a:pt x="0" y="0"/>
                </a:moveTo>
                <a:lnTo>
                  <a:pt x="2369166" y="0"/>
                </a:lnTo>
                <a:lnTo>
                  <a:pt x="2369166" y="2369166"/>
                </a:lnTo>
                <a:lnTo>
                  <a:pt x="0" y="2369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918834" y="7917834"/>
            <a:ext cx="2369166" cy="2369166"/>
          </a:xfrm>
          <a:custGeom>
            <a:avLst/>
            <a:gdLst/>
            <a:ahLst/>
            <a:cxnLst/>
            <a:rect r="r" b="b" t="t" l="l"/>
            <a:pathLst>
              <a:path h="2369166" w="2369166">
                <a:moveTo>
                  <a:pt x="0" y="0"/>
                </a:moveTo>
                <a:lnTo>
                  <a:pt x="2369166" y="0"/>
                </a:lnTo>
                <a:lnTo>
                  <a:pt x="2369166" y="2369166"/>
                </a:lnTo>
                <a:lnTo>
                  <a:pt x="0" y="23691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545313" y="1343382"/>
            <a:ext cx="7305977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-21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Why I Chose This Project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98622" y="2362539"/>
            <a:ext cx="10546854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spc="-11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Air pollution affects public health and can cause serious health problems.</a:t>
            </a:r>
          </a:p>
          <a:p>
            <a:pPr algn="l">
              <a:lnSpc>
                <a:spcPts val="3359"/>
              </a:lnSpc>
            </a:pP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spc="-11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It impacts climate and damages the environment.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Studying it helps identify causes and possible solutions.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1545313" y="4933654"/>
            <a:ext cx="8339374" cy="7550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59"/>
              </a:lnSpc>
              <a:spcBef>
                <a:spcPct val="0"/>
              </a:spcBef>
            </a:pPr>
            <a:r>
              <a:rPr lang="en-US" b="true" sz="4399" spc="-21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Datasets Used in This Project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826389" y="6116172"/>
            <a:ext cx="10008384" cy="2501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spc="-11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Air Pollution Data - U.S. Environmental Protection Agency (EPA)</a:t>
            </a:r>
          </a:p>
          <a:p>
            <a:pPr algn="l">
              <a:lnSpc>
                <a:spcPts val="3359"/>
              </a:lnSpc>
            </a:pP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spc="-11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Renewable Energy Data - U.S. Energy Information Administration (EIA)</a:t>
            </a:r>
          </a:p>
          <a:p>
            <a:pPr algn="l">
              <a:lnSpc>
                <a:spcPts val="3359"/>
              </a:lnSpc>
            </a:pPr>
          </a:p>
          <a:p>
            <a:pPr algn="l" marL="518157" indent="-259078" lvl="1">
              <a:lnSpc>
                <a:spcPts val="3359"/>
              </a:lnSpc>
              <a:buFont typeface="Arial"/>
              <a:buChar char="•"/>
            </a:pPr>
            <a:r>
              <a:rPr lang="en-US" b="true" sz="2399" spc="-11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Motor Vehicle Registration Data - U.S. Government Open Data Portal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0560" y="3201122"/>
            <a:ext cx="955740" cy="401411"/>
          </a:xfrm>
          <a:custGeom>
            <a:avLst/>
            <a:gdLst/>
            <a:ahLst/>
            <a:cxnLst/>
            <a:rect r="r" b="b" t="t" l="l"/>
            <a:pathLst>
              <a:path h="401411" w="955740">
                <a:moveTo>
                  <a:pt x="0" y="0"/>
                </a:moveTo>
                <a:lnTo>
                  <a:pt x="955740" y="0"/>
                </a:lnTo>
                <a:lnTo>
                  <a:pt x="955740" y="401410"/>
                </a:lnTo>
                <a:lnTo>
                  <a:pt x="0" y="4014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3952781" y="4000936"/>
            <a:ext cx="511297" cy="808085"/>
          </a:xfrm>
          <a:custGeom>
            <a:avLst/>
            <a:gdLst/>
            <a:ahLst/>
            <a:cxnLst/>
            <a:rect r="r" b="b" t="t" l="l"/>
            <a:pathLst>
              <a:path h="808085" w="511297">
                <a:moveTo>
                  <a:pt x="0" y="0"/>
                </a:moveTo>
                <a:lnTo>
                  <a:pt x="511298" y="0"/>
                </a:lnTo>
                <a:lnTo>
                  <a:pt x="511298" y="808085"/>
                </a:lnTo>
                <a:lnTo>
                  <a:pt x="0" y="80808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744440" y="3086822"/>
            <a:ext cx="13768938" cy="5375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5"/>
              </a:lnSpc>
            </a:pPr>
            <a:r>
              <a:rPr lang="en-US" sz="2599" spc="-129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                  Transportation                                                      Industrial Processes</a:t>
            </a:r>
          </a:p>
          <a:p>
            <a:pPr algn="l">
              <a:lnSpc>
                <a:spcPts val="4315"/>
              </a:lnSpc>
            </a:pPr>
          </a:p>
          <a:p>
            <a:pPr algn="l">
              <a:lnSpc>
                <a:spcPts val="4315"/>
              </a:lnSpc>
            </a:pPr>
            <a:r>
              <a:rPr lang="en-US" sz="2599" spc="-129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                  Fires                                                                          Solvent</a:t>
            </a:r>
          </a:p>
          <a:p>
            <a:pPr algn="l">
              <a:lnSpc>
                <a:spcPts val="4315"/>
              </a:lnSpc>
            </a:pPr>
          </a:p>
          <a:p>
            <a:pPr algn="l">
              <a:lnSpc>
                <a:spcPts val="4315"/>
              </a:lnSpc>
            </a:pPr>
            <a:r>
              <a:rPr lang="en-US" sz="2599" spc="-129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                  Fuel Combustion                                                Waste Disposal</a:t>
            </a:r>
          </a:p>
          <a:p>
            <a:pPr algn="l">
              <a:lnSpc>
                <a:spcPts val="4315"/>
              </a:lnSpc>
            </a:pPr>
            <a:r>
              <a:rPr lang="en-US" sz="2599" spc="-129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</a:t>
            </a:r>
          </a:p>
          <a:p>
            <a:pPr algn="l">
              <a:lnSpc>
                <a:spcPts val="4315"/>
              </a:lnSpc>
            </a:pPr>
            <a:r>
              <a:rPr lang="en-US" sz="2599" spc="-129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                  Agriculture                                                             Fuel &amp; Services</a:t>
            </a:r>
          </a:p>
          <a:p>
            <a:pPr algn="l">
              <a:lnSpc>
                <a:spcPts val="4315"/>
              </a:lnSpc>
            </a:pPr>
          </a:p>
          <a:p>
            <a:pPr algn="l">
              <a:lnSpc>
                <a:spcPts val="4315"/>
              </a:lnSpc>
            </a:pPr>
            <a:r>
              <a:rPr lang="en-US" sz="2599" spc="-129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                    Dust                                                                          Other Non-Industrial</a:t>
            </a:r>
          </a:p>
          <a:p>
            <a:pPr algn="l">
              <a:lnSpc>
                <a:spcPts val="414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3730560" y="5209071"/>
            <a:ext cx="659253" cy="666524"/>
          </a:xfrm>
          <a:custGeom>
            <a:avLst/>
            <a:gdLst/>
            <a:ahLst/>
            <a:cxnLst/>
            <a:rect r="r" b="b" t="t" l="l"/>
            <a:pathLst>
              <a:path h="666524" w="659253">
                <a:moveTo>
                  <a:pt x="0" y="0"/>
                </a:moveTo>
                <a:lnTo>
                  <a:pt x="659253" y="0"/>
                </a:lnTo>
                <a:lnTo>
                  <a:pt x="659253" y="666524"/>
                </a:lnTo>
                <a:lnTo>
                  <a:pt x="0" y="66652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3730560" y="6275645"/>
            <a:ext cx="733519" cy="542804"/>
          </a:xfrm>
          <a:custGeom>
            <a:avLst/>
            <a:gdLst/>
            <a:ahLst/>
            <a:cxnLst/>
            <a:rect r="r" b="b" t="t" l="l"/>
            <a:pathLst>
              <a:path h="542804" w="733519">
                <a:moveTo>
                  <a:pt x="0" y="0"/>
                </a:moveTo>
                <a:lnTo>
                  <a:pt x="733519" y="0"/>
                </a:lnTo>
                <a:lnTo>
                  <a:pt x="733519" y="542804"/>
                </a:lnTo>
                <a:lnTo>
                  <a:pt x="0" y="5428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853210" y="7534502"/>
            <a:ext cx="610869" cy="407616"/>
          </a:xfrm>
          <a:custGeom>
            <a:avLst/>
            <a:gdLst/>
            <a:ahLst/>
            <a:cxnLst/>
            <a:rect r="r" b="b" t="t" l="l"/>
            <a:pathLst>
              <a:path h="407616" w="610869">
                <a:moveTo>
                  <a:pt x="0" y="0"/>
                </a:moveTo>
                <a:lnTo>
                  <a:pt x="610869" y="0"/>
                </a:lnTo>
                <a:lnTo>
                  <a:pt x="610869" y="407616"/>
                </a:lnTo>
                <a:lnTo>
                  <a:pt x="0" y="40761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15990" y="3201122"/>
            <a:ext cx="520152" cy="615234"/>
          </a:xfrm>
          <a:custGeom>
            <a:avLst/>
            <a:gdLst/>
            <a:ahLst/>
            <a:cxnLst/>
            <a:rect r="r" b="b" t="t" l="l"/>
            <a:pathLst>
              <a:path h="615234" w="520152">
                <a:moveTo>
                  <a:pt x="0" y="0"/>
                </a:moveTo>
                <a:lnTo>
                  <a:pt x="520152" y="0"/>
                </a:lnTo>
                <a:lnTo>
                  <a:pt x="520152" y="615233"/>
                </a:lnTo>
                <a:lnTo>
                  <a:pt x="0" y="61523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962826" y="4075708"/>
            <a:ext cx="573317" cy="733312"/>
          </a:xfrm>
          <a:custGeom>
            <a:avLst/>
            <a:gdLst/>
            <a:ahLst/>
            <a:cxnLst/>
            <a:rect r="r" b="b" t="t" l="l"/>
            <a:pathLst>
              <a:path h="733312" w="573317">
                <a:moveTo>
                  <a:pt x="0" y="0"/>
                </a:moveTo>
                <a:lnTo>
                  <a:pt x="573316" y="0"/>
                </a:lnTo>
                <a:lnTo>
                  <a:pt x="573316" y="733313"/>
                </a:lnTo>
                <a:lnTo>
                  <a:pt x="0" y="7333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962826" y="5209071"/>
            <a:ext cx="651786" cy="651786"/>
          </a:xfrm>
          <a:custGeom>
            <a:avLst/>
            <a:gdLst/>
            <a:ahLst/>
            <a:cxnLst/>
            <a:rect r="r" b="b" t="t" l="l"/>
            <a:pathLst>
              <a:path h="651786" w="651786">
                <a:moveTo>
                  <a:pt x="0" y="0"/>
                </a:moveTo>
                <a:lnTo>
                  <a:pt x="651786" y="0"/>
                </a:lnTo>
                <a:lnTo>
                  <a:pt x="651786" y="651786"/>
                </a:lnTo>
                <a:lnTo>
                  <a:pt x="0" y="65178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962826" y="6275645"/>
            <a:ext cx="639836" cy="661485"/>
          </a:xfrm>
          <a:custGeom>
            <a:avLst/>
            <a:gdLst/>
            <a:ahLst/>
            <a:cxnLst/>
            <a:rect r="r" b="b" t="t" l="l"/>
            <a:pathLst>
              <a:path h="661485" w="639836">
                <a:moveTo>
                  <a:pt x="0" y="0"/>
                </a:moveTo>
                <a:lnTo>
                  <a:pt x="639836" y="0"/>
                </a:lnTo>
                <a:lnTo>
                  <a:pt x="639836" y="661485"/>
                </a:lnTo>
                <a:lnTo>
                  <a:pt x="0" y="66148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028700" y="838200"/>
            <a:ext cx="16230600" cy="808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05"/>
              </a:lnSpc>
              <a:spcBef>
                <a:spcPct val="0"/>
              </a:spcBef>
            </a:pPr>
            <a:r>
              <a:rPr lang="en-US" b="true" sz="4099" spc="-20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Major Air Pollution Sectors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0" y="40998"/>
            <a:ext cx="2157608" cy="2157608"/>
          </a:xfrm>
          <a:custGeom>
            <a:avLst/>
            <a:gdLst/>
            <a:ahLst/>
            <a:cxnLst/>
            <a:rect r="r" b="b" t="t" l="l"/>
            <a:pathLst>
              <a:path h="2157608" w="2157608">
                <a:moveTo>
                  <a:pt x="0" y="0"/>
                </a:moveTo>
                <a:lnTo>
                  <a:pt x="2157608" y="0"/>
                </a:lnTo>
                <a:lnTo>
                  <a:pt x="2157608" y="2157608"/>
                </a:lnTo>
                <a:lnTo>
                  <a:pt x="0" y="2157608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5400000">
            <a:off x="15918834" y="40998"/>
            <a:ext cx="2369166" cy="2369166"/>
          </a:xfrm>
          <a:custGeom>
            <a:avLst/>
            <a:gdLst/>
            <a:ahLst/>
            <a:cxnLst/>
            <a:rect r="r" b="b" t="t" l="l"/>
            <a:pathLst>
              <a:path h="2369166" w="2369166">
                <a:moveTo>
                  <a:pt x="0" y="0"/>
                </a:moveTo>
                <a:lnTo>
                  <a:pt x="2369166" y="0"/>
                </a:lnTo>
                <a:lnTo>
                  <a:pt x="2369166" y="2369166"/>
                </a:lnTo>
                <a:lnTo>
                  <a:pt x="0" y="23691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5400000">
            <a:off x="0" y="7917834"/>
            <a:ext cx="2369166" cy="2369166"/>
          </a:xfrm>
          <a:custGeom>
            <a:avLst/>
            <a:gdLst/>
            <a:ahLst/>
            <a:cxnLst/>
            <a:rect r="r" b="b" t="t" l="l"/>
            <a:pathLst>
              <a:path h="2369166" w="2369166">
                <a:moveTo>
                  <a:pt x="0" y="0"/>
                </a:moveTo>
                <a:lnTo>
                  <a:pt x="2369166" y="0"/>
                </a:lnTo>
                <a:lnTo>
                  <a:pt x="2369166" y="2369166"/>
                </a:lnTo>
                <a:lnTo>
                  <a:pt x="0" y="23691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-10800000">
            <a:off x="15918834" y="7917834"/>
            <a:ext cx="2369166" cy="2369166"/>
          </a:xfrm>
          <a:custGeom>
            <a:avLst/>
            <a:gdLst/>
            <a:ahLst/>
            <a:cxnLst/>
            <a:rect r="r" b="b" t="t" l="l"/>
            <a:pathLst>
              <a:path h="2369166" w="2369166">
                <a:moveTo>
                  <a:pt x="0" y="0"/>
                </a:moveTo>
                <a:lnTo>
                  <a:pt x="2369166" y="0"/>
                </a:lnTo>
                <a:lnTo>
                  <a:pt x="2369166" y="2369166"/>
                </a:lnTo>
                <a:lnTo>
                  <a:pt x="0" y="2369166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9962826" y="7488562"/>
            <a:ext cx="639836" cy="429272"/>
          </a:xfrm>
          <a:custGeom>
            <a:avLst/>
            <a:gdLst/>
            <a:ahLst/>
            <a:cxnLst/>
            <a:rect r="r" b="b" t="t" l="l"/>
            <a:pathLst>
              <a:path h="429272" w="639836">
                <a:moveTo>
                  <a:pt x="0" y="0"/>
                </a:moveTo>
                <a:lnTo>
                  <a:pt x="639836" y="0"/>
                </a:lnTo>
                <a:lnTo>
                  <a:pt x="639836" y="429272"/>
                </a:lnTo>
                <a:lnTo>
                  <a:pt x="0" y="429272"/>
                </a:lnTo>
                <a:lnTo>
                  <a:pt x="0" y="0"/>
                </a:lnTo>
                <a:close/>
              </a:path>
            </a:pathLst>
          </a:custGeom>
          <a:blipFill>
            <a:blip r:embed="rId18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88770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0" y="788670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887700" y="7848353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8528700" y="2621973"/>
            <a:ext cx="8559150" cy="5690094"/>
          </a:xfrm>
          <a:custGeom>
            <a:avLst/>
            <a:gdLst/>
            <a:ahLst/>
            <a:cxnLst/>
            <a:rect r="r" b="b" t="t" l="l"/>
            <a:pathLst>
              <a:path h="5690094" w="8559150">
                <a:moveTo>
                  <a:pt x="0" y="0"/>
                </a:moveTo>
                <a:lnTo>
                  <a:pt x="8559150" y="0"/>
                </a:lnTo>
                <a:lnTo>
                  <a:pt x="8559150" y="5690094"/>
                </a:lnTo>
                <a:lnTo>
                  <a:pt x="0" y="56900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375064" y="2574348"/>
            <a:ext cx="6527281" cy="375000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pc="-19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Transportation is the largest contributor to emissions.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pc="-19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Fires and Fuel Combustion are the next highest contributors.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b="true" sz="2400" spc="-19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Waste Disposal and Other Non-Industrial sources contribute the least.</a:t>
            </a:r>
          </a:p>
          <a:p>
            <a:pPr algn="l">
              <a:lnSpc>
                <a:spcPts val="3253"/>
              </a:lnSpc>
              <a:spcBef>
                <a:spcPct val="0"/>
              </a:spcBef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4804064" y="1226939"/>
            <a:ext cx="6926420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39"/>
              </a:lnSpc>
              <a:spcBef>
                <a:spcPct val="0"/>
              </a:spcBef>
            </a:pPr>
            <a:r>
              <a:rPr lang="en-US" b="true" sz="4099" spc="-20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 Emissions by Sector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5400000">
            <a:off x="1588770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400000">
            <a:off x="0" y="788670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10800000">
            <a:off x="15887700" y="7848353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6994361" y="2963206"/>
            <a:ext cx="9110558" cy="4600832"/>
          </a:xfrm>
          <a:custGeom>
            <a:avLst/>
            <a:gdLst/>
            <a:ahLst/>
            <a:cxnLst/>
            <a:rect r="r" b="b" t="t" l="l"/>
            <a:pathLst>
              <a:path h="4600832" w="9110558">
                <a:moveTo>
                  <a:pt x="0" y="0"/>
                </a:moveTo>
                <a:lnTo>
                  <a:pt x="9110558" y="0"/>
                </a:lnTo>
                <a:lnTo>
                  <a:pt x="9110558" y="4600832"/>
                </a:lnTo>
                <a:lnTo>
                  <a:pt x="0" y="46008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013106" y="1019175"/>
            <a:ext cx="9645241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19"/>
              </a:lnSpc>
            </a:pPr>
            <a:r>
              <a:rPr lang="en-US" sz="4099" spc="-327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How Sector Emissions Changed Over 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42794" y="2419672"/>
            <a:ext cx="4751568" cy="5303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3"/>
              </a:lnSpc>
            </a:pPr>
          </a:p>
          <a:p>
            <a:pPr algn="l" marL="510932" indent="-255466" lvl="1">
              <a:lnSpc>
                <a:spcPts val="3313"/>
              </a:lnSpc>
              <a:buFont typeface="Arial"/>
              <a:buChar char="•"/>
            </a:pPr>
            <a:r>
              <a:rPr lang="en-US" b="true" sz="2366" spc="-118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Total emissions decreased from 2004 to around 2014.</a:t>
            </a:r>
          </a:p>
          <a:p>
            <a:pPr algn="l">
              <a:lnSpc>
                <a:spcPts val="3313"/>
              </a:lnSpc>
            </a:pPr>
          </a:p>
          <a:p>
            <a:pPr algn="l" marL="510932" indent="-255466" lvl="1">
              <a:lnSpc>
                <a:spcPts val="3313"/>
              </a:lnSpc>
              <a:buFont typeface="Arial"/>
              <a:buChar char="•"/>
            </a:pPr>
            <a:r>
              <a:rPr lang="en-US" b="true" sz="2366" spc="-118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Transportation emissions decreased by 71%</a:t>
            </a:r>
          </a:p>
          <a:p>
            <a:pPr algn="l">
              <a:lnSpc>
                <a:spcPts val="3313"/>
              </a:lnSpc>
            </a:pPr>
          </a:p>
          <a:p>
            <a:pPr algn="l" marL="510932" indent="-255466" lvl="1">
              <a:lnSpc>
                <a:spcPts val="3313"/>
              </a:lnSpc>
              <a:buFont typeface="Arial"/>
              <a:buChar char="•"/>
            </a:pPr>
            <a:r>
              <a:rPr lang="en-US" b="true" sz="2366" spc="-118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Fuel combustion emissions decreased by 62%</a:t>
            </a:r>
          </a:p>
          <a:p>
            <a:pPr algn="l">
              <a:lnSpc>
                <a:spcPts val="3313"/>
              </a:lnSpc>
            </a:pPr>
          </a:p>
          <a:p>
            <a:pPr algn="l" marL="510932" indent="-255466" lvl="1">
              <a:lnSpc>
                <a:spcPts val="3313"/>
              </a:lnSpc>
              <a:buFont typeface="Arial"/>
              <a:buChar char="•"/>
            </a:pPr>
            <a:r>
              <a:rPr lang="en-US" b="true" sz="2366" spc="-118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Fire related emissions increased by 41%</a:t>
            </a:r>
          </a:p>
          <a:p>
            <a:pPr algn="l">
              <a:lnSpc>
                <a:spcPts val="2193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506911" y="6416251"/>
            <a:ext cx="7000265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 spc="-104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Natural Sources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2784209"/>
            <a:ext cx="3376334" cy="6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59"/>
              </a:lnSpc>
              <a:spcBef>
                <a:spcPct val="0"/>
              </a:spcBef>
            </a:pPr>
            <a:r>
              <a:rPr lang="en-US" b="true" sz="3899" spc="-19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Transportation   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16434" y="942975"/>
            <a:ext cx="17248037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 spc="-20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Sectors and Categories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741326"/>
            <a:ext cx="3751716" cy="303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5"/>
              </a:lnSpc>
            </a:pPr>
            <a:r>
              <a:rPr lang="en-US" sz="2599" spc="-129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Categories:</a:t>
            </a:r>
          </a:p>
          <a:p>
            <a:pPr algn="l" marL="518160" indent="-259080" lvl="1">
              <a:lnSpc>
                <a:spcPts val="3983"/>
              </a:lnSpc>
              <a:buFont typeface="Arial"/>
              <a:buChar char="•"/>
            </a:pPr>
            <a:r>
              <a:rPr lang="en-US" b="true" sz="2400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 - road vehicles</a:t>
            </a:r>
          </a:p>
          <a:p>
            <a:pPr algn="l" marL="518160" indent="-259080" lvl="1">
              <a:lnSpc>
                <a:spcPts val="3983"/>
              </a:lnSpc>
              <a:buFont typeface="Arial"/>
              <a:buChar char="•"/>
            </a:pPr>
            <a:r>
              <a:rPr lang="en-US" b="true" sz="2400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 - road vehicles</a:t>
            </a:r>
          </a:p>
          <a:p>
            <a:pPr algn="l" marL="518160" indent="-259080" lvl="1">
              <a:lnSpc>
                <a:spcPts val="3983"/>
              </a:lnSpc>
              <a:buFont typeface="Arial"/>
              <a:buChar char="•"/>
            </a:pPr>
            <a:r>
              <a:rPr lang="en-US" b="true" sz="2400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Aircraft</a:t>
            </a:r>
          </a:p>
          <a:p>
            <a:pPr algn="l" marL="518160" indent="-259080" lvl="1">
              <a:lnSpc>
                <a:spcPts val="3983"/>
              </a:lnSpc>
              <a:buFont typeface="Arial"/>
              <a:buChar char="•"/>
            </a:pPr>
            <a:r>
              <a:rPr lang="en-US" b="true" sz="2400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Rail</a:t>
            </a:r>
          </a:p>
          <a:p>
            <a:pPr algn="l" marL="518160" indent="-259080" lvl="1">
              <a:lnSpc>
                <a:spcPts val="3983"/>
              </a:lnSpc>
              <a:buFont typeface="Arial"/>
              <a:buChar char="•"/>
            </a:pPr>
            <a:r>
              <a:rPr lang="en-US" b="true" sz="2400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Marine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080089" y="2793736"/>
            <a:ext cx="2236144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900" spc="-195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Fires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675238" y="3694836"/>
            <a:ext cx="3563826" cy="253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5"/>
              </a:lnSpc>
            </a:pPr>
            <a:r>
              <a:rPr lang="en-US" sz="2599" spc="-129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Categories:</a:t>
            </a:r>
          </a:p>
          <a:p>
            <a:pPr algn="l" marL="518160" indent="-259080" lvl="1">
              <a:lnSpc>
                <a:spcPts val="3983"/>
              </a:lnSpc>
              <a:buFont typeface="Arial"/>
              <a:buChar char="•"/>
            </a:pPr>
            <a:r>
              <a:rPr lang="en-US" b="true" sz="2400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Wildfires</a:t>
            </a:r>
          </a:p>
          <a:p>
            <a:pPr algn="l" marL="518160" indent="-259080" lvl="1">
              <a:lnSpc>
                <a:spcPts val="3983"/>
              </a:lnSpc>
              <a:buFont typeface="Arial"/>
              <a:buChar char="•"/>
            </a:pPr>
            <a:r>
              <a:rPr lang="en-US" b="true" sz="2400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Prescribed Fires</a:t>
            </a:r>
          </a:p>
          <a:p>
            <a:pPr algn="l" marL="518160" indent="-259080" lvl="1">
              <a:lnSpc>
                <a:spcPts val="3983"/>
              </a:lnSpc>
              <a:buFont typeface="Arial"/>
              <a:buChar char="•"/>
            </a:pPr>
            <a:r>
              <a:rPr lang="en-US" b="true" sz="2400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Agricultural Burning</a:t>
            </a:r>
          </a:p>
          <a:p>
            <a:pPr algn="l">
              <a:lnSpc>
                <a:spcPts val="398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40998"/>
            <a:ext cx="2819413" cy="2819413"/>
          </a:xfrm>
          <a:custGeom>
            <a:avLst/>
            <a:gdLst/>
            <a:ahLst/>
            <a:cxnLst/>
            <a:rect r="r" b="b" t="t" l="l"/>
            <a:pathLst>
              <a:path h="2819413" w="2819413">
                <a:moveTo>
                  <a:pt x="0" y="0"/>
                </a:moveTo>
                <a:lnTo>
                  <a:pt x="2819413" y="0"/>
                </a:lnTo>
                <a:lnTo>
                  <a:pt x="2819413" y="2819413"/>
                </a:lnTo>
                <a:lnTo>
                  <a:pt x="0" y="28194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5367213" y="40998"/>
            <a:ext cx="2920787" cy="2920787"/>
          </a:xfrm>
          <a:custGeom>
            <a:avLst/>
            <a:gdLst/>
            <a:ahLst/>
            <a:cxnLst/>
            <a:rect r="r" b="b" t="t" l="l"/>
            <a:pathLst>
              <a:path h="2920787" w="2920787">
                <a:moveTo>
                  <a:pt x="0" y="0"/>
                </a:moveTo>
                <a:lnTo>
                  <a:pt x="2920787" y="0"/>
                </a:lnTo>
                <a:lnTo>
                  <a:pt x="2920787" y="2920787"/>
                </a:lnTo>
                <a:lnTo>
                  <a:pt x="0" y="29207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0" y="7162072"/>
            <a:ext cx="3124928" cy="3124928"/>
          </a:xfrm>
          <a:custGeom>
            <a:avLst/>
            <a:gdLst/>
            <a:ahLst/>
            <a:cxnLst/>
            <a:rect r="r" b="b" t="t" l="l"/>
            <a:pathLst>
              <a:path h="3124928" w="3124928">
                <a:moveTo>
                  <a:pt x="0" y="0"/>
                </a:moveTo>
                <a:lnTo>
                  <a:pt x="3124928" y="0"/>
                </a:lnTo>
                <a:lnTo>
                  <a:pt x="3124928" y="3124928"/>
                </a:lnTo>
                <a:lnTo>
                  <a:pt x="0" y="312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5163072" y="7162072"/>
            <a:ext cx="3124928" cy="3124928"/>
          </a:xfrm>
          <a:custGeom>
            <a:avLst/>
            <a:gdLst/>
            <a:ahLst/>
            <a:cxnLst/>
            <a:rect r="r" b="b" t="t" l="l"/>
            <a:pathLst>
              <a:path h="3124928" w="3124928">
                <a:moveTo>
                  <a:pt x="0" y="0"/>
                </a:moveTo>
                <a:lnTo>
                  <a:pt x="3124928" y="0"/>
                </a:lnTo>
                <a:lnTo>
                  <a:pt x="3124928" y="3124928"/>
                </a:lnTo>
                <a:lnTo>
                  <a:pt x="0" y="312492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2981961" y="2784211"/>
            <a:ext cx="3845646" cy="66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459"/>
              </a:lnSpc>
              <a:spcBef>
                <a:spcPct val="0"/>
              </a:spcBef>
            </a:pPr>
            <a:r>
              <a:rPr lang="en-US" b="true" sz="3899" spc="-19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Fuel Combustion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981961" y="3694836"/>
            <a:ext cx="4143155" cy="2619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1"/>
              </a:lnSpc>
            </a:pPr>
            <a:r>
              <a:rPr lang="en-US" sz="2699" spc="-134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Categories:</a:t>
            </a:r>
          </a:p>
          <a:p>
            <a:pPr algn="l" marL="539746" indent="-269873" lvl="1">
              <a:lnSpc>
                <a:spcPts val="414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Electric Generation</a:t>
            </a:r>
          </a:p>
          <a:p>
            <a:pPr algn="l" marL="539746" indent="-269873" lvl="1">
              <a:lnSpc>
                <a:spcPts val="414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Residential</a:t>
            </a:r>
          </a:p>
          <a:p>
            <a:pPr algn="l" marL="539746" indent="-269873" lvl="1">
              <a:lnSpc>
                <a:spcPts val="414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Commercial/Institutional</a:t>
            </a:r>
          </a:p>
          <a:p>
            <a:pPr algn="l" marL="539746" indent="-269873" lvl="1">
              <a:lnSpc>
                <a:spcPts val="414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Industrial Boilers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7973" y="1036920"/>
            <a:ext cx="15652054" cy="7054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en-US" b="true" sz="4099" spc="-20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Which Transportation Category Contributes the Most to Emissions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88770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0" y="788670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887700" y="7848353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8746817" y="2441298"/>
            <a:ext cx="7589737" cy="5509791"/>
          </a:xfrm>
          <a:custGeom>
            <a:avLst/>
            <a:gdLst/>
            <a:ahLst/>
            <a:cxnLst/>
            <a:rect r="r" b="b" t="t" l="l"/>
            <a:pathLst>
              <a:path h="5509791" w="7589737">
                <a:moveTo>
                  <a:pt x="0" y="0"/>
                </a:moveTo>
                <a:lnTo>
                  <a:pt x="7589736" y="0"/>
                </a:lnTo>
                <a:lnTo>
                  <a:pt x="7589736" y="5509791"/>
                </a:lnTo>
                <a:lnTo>
                  <a:pt x="0" y="550979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21376" y="2571749"/>
            <a:ext cx="5573099" cy="43076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On-road vehicles contribute the highest emission.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Off-road equipment is the second largest contributor.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Marine, aircraft, and rail contribute very little.</a:t>
            </a:r>
          </a:p>
          <a:p>
            <a:pPr algn="l">
              <a:lnSpc>
                <a:spcPts val="1492"/>
              </a:lnSpc>
            </a:pPr>
          </a:p>
          <a:p>
            <a:pPr algn="l">
              <a:lnSpc>
                <a:spcPts val="149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56491" y="4641500"/>
            <a:ext cx="8240811" cy="4849546"/>
          </a:xfrm>
          <a:custGeom>
            <a:avLst/>
            <a:gdLst/>
            <a:ahLst/>
            <a:cxnLst/>
            <a:rect r="r" b="b" t="t" l="l"/>
            <a:pathLst>
              <a:path h="4849546" w="8240811">
                <a:moveTo>
                  <a:pt x="0" y="0"/>
                </a:moveTo>
                <a:lnTo>
                  <a:pt x="8240812" y="0"/>
                </a:lnTo>
                <a:lnTo>
                  <a:pt x="8240812" y="4849547"/>
                </a:lnTo>
                <a:lnTo>
                  <a:pt x="0" y="48495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35" r="0" b="-23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675973" y="1231623"/>
            <a:ext cx="14211727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 spc="-328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Which Fire Category Contributes Most to Emissions Over Time?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88770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0" y="788670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5887700" y="7848353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675973" y="5447545"/>
            <a:ext cx="5634815" cy="4043502"/>
          </a:xfrm>
          <a:custGeom>
            <a:avLst/>
            <a:gdLst/>
            <a:ahLst/>
            <a:cxnLst/>
            <a:rect r="r" b="b" t="t" l="l"/>
            <a:pathLst>
              <a:path h="4043502" w="5634815">
                <a:moveTo>
                  <a:pt x="0" y="0"/>
                </a:moveTo>
                <a:lnTo>
                  <a:pt x="5634815" y="0"/>
                </a:lnTo>
                <a:lnTo>
                  <a:pt x="5634815" y="4043502"/>
                </a:lnTo>
                <a:lnTo>
                  <a:pt x="0" y="40435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75973" y="2412650"/>
            <a:ext cx="12965340" cy="2228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pc="-19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Wildfires cause the major fluctuations in fire emissions and prescribed fires are more stable.</a:t>
            </a:r>
          </a:p>
          <a:p>
            <a:pPr algn="l">
              <a:lnSpc>
                <a:spcPts val="2999"/>
              </a:lnSpc>
            </a:pP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pc="-19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Prescribed fires remain mostly between 10–16 million tons</a:t>
            </a:r>
          </a:p>
          <a:p>
            <a:pPr algn="l">
              <a:lnSpc>
                <a:spcPts val="2999"/>
              </a:lnSpc>
            </a:pP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pc="-19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Agricultural field burning stays very low every year.</a:t>
            </a:r>
          </a:p>
          <a:p>
            <a:pPr algn="l">
              <a:lnSpc>
                <a:spcPts val="29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18195" y="6397161"/>
            <a:ext cx="12599861" cy="3489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Electric generation was the highest emitter in early years</a:t>
            </a:r>
          </a:p>
          <a:p>
            <a:pPr algn="l">
              <a:lnSpc>
                <a:spcPts val="3499"/>
              </a:lnSpc>
            </a:pPr>
            <a:r>
              <a:rPr lang="en-US" sz="2499" spc="-124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 </a:t>
            </a:r>
            <a:r>
              <a:rPr lang="en-US" sz="2499" spc="-124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and reduced significantly over time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Residential emissions remained stable or slightly increased</a:t>
            </a:r>
          </a:p>
          <a:p>
            <a:pPr algn="l">
              <a:lnSpc>
                <a:spcPts val="3499"/>
              </a:lnSpc>
            </a:pP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After 2017, residential became the top contributor. This happened because electric generation reduced faster than residential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318195" y="942975"/>
            <a:ext cx="13609603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b="true" sz="4100" spc="-205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Fuel Combustion Emissions by Category Over Time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88770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0" y="788670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5887700" y="7848353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35796" y="2385976"/>
            <a:ext cx="4952119" cy="3648087"/>
          </a:xfrm>
          <a:custGeom>
            <a:avLst/>
            <a:gdLst/>
            <a:ahLst/>
            <a:cxnLst/>
            <a:rect r="r" b="b" t="t" l="l"/>
            <a:pathLst>
              <a:path h="3648087" w="4952119">
                <a:moveTo>
                  <a:pt x="0" y="0"/>
                </a:moveTo>
                <a:lnTo>
                  <a:pt x="4952118" y="0"/>
                </a:lnTo>
                <a:lnTo>
                  <a:pt x="4952118" y="3648087"/>
                </a:lnTo>
                <a:lnTo>
                  <a:pt x="0" y="36480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037000" y="2213378"/>
            <a:ext cx="6697330" cy="3993283"/>
          </a:xfrm>
          <a:custGeom>
            <a:avLst/>
            <a:gdLst/>
            <a:ahLst/>
            <a:cxnLst/>
            <a:rect r="r" b="b" t="t" l="l"/>
            <a:pathLst>
              <a:path h="3993283" w="6697330">
                <a:moveTo>
                  <a:pt x="0" y="0"/>
                </a:moveTo>
                <a:lnTo>
                  <a:pt x="6697330" y="0"/>
                </a:lnTo>
                <a:lnTo>
                  <a:pt x="6697330" y="3993283"/>
                </a:lnTo>
                <a:lnTo>
                  <a:pt x="0" y="39932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6358394" cy="8198897"/>
            <a:chOff x="0" y="0"/>
            <a:chExt cx="1146885" cy="147886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46885" cy="1478863"/>
            </a:xfrm>
            <a:custGeom>
              <a:avLst/>
              <a:gdLst/>
              <a:ahLst/>
              <a:cxnLst/>
              <a:rect r="r" b="b" t="t" l="l"/>
              <a:pathLst>
                <a:path h="1478863" w="1146885">
                  <a:moveTo>
                    <a:pt x="30440" y="0"/>
                  </a:moveTo>
                  <a:lnTo>
                    <a:pt x="1116445" y="0"/>
                  </a:lnTo>
                  <a:cubicBezTo>
                    <a:pt x="1133257" y="0"/>
                    <a:pt x="1146885" y="13628"/>
                    <a:pt x="1146885" y="30440"/>
                  </a:cubicBezTo>
                  <a:lnTo>
                    <a:pt x="1146885" y="1448423"/>
                  </a:lnTo>
                  <a:cubicBezTo>
                    <a:pt x="1146885" y="1465235"/>
                    <a:pt x="1133257" y="1478863"/>
                    <a:pt x="1116445" y="1478863"/>
                  </a:cubicBezTo>
                  <a:lnTo>
                    <a:pt x="30440" y="1478863"/>
                  </a:lnTo>
                  <a:cubicBezTo>
                    <a:pt x="13628" y="1478863"/>
                    <a:pt x="0" y="1465235"/>
                    <a:pt x="0" y="1448423"/>
                  </a:cubicBezTo>
                  <a:lnTo>
                    <a:pt x="0" y="30440"/>
                  </a:lnTo>
                  <a:cubicBezTo>
                    <a:pt x="0" y="13628"/>
                    <a:pt x="13628" y="0"/>
                    <a:pt x="3044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6504" r="0" b="-650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038056" y="1019175"/>
            <a:ext cx="4440999" cy="628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20"/>
              </a:lnSpc>
            </a:pPr>
            <a:r>
              <a:rPr lang="en-US" sz="4100" spc="-328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Major Air Pollutants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38056" y="2316796"/>
            <a:ext cx="8007846" cy="2555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2718" spc="-135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Particulate Matter</a:t>
            </a:r>
          </a:p>
          <a:p>
            <a:pPr algn="l" marL="522156" indent="-261078" lvl="1">
              <a:lnSpc>
                <a:spcPts val="4014"/>
              </a:lnSpc>
              <a:buFont typeface="Arial"/>
              <a:buChar char="•"/>
            </a:pPr>
            <a:r>
              <a:rPr lang="en-US" b="true" sz="2418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PM2.5 - Very tiny particles</a:t>
            </a:r>
          </a:p>
          <a:p>
            <a:pPr algn="l" marL="522156" indent="-261078" lvl="1">
              <a:lnSpc>
                <a:spcPts val="4014"/>
              </a:lnSpc>
              <a:buFont typeface="Arial"/>
              <a:buChar char="•"/>
            </a:pPr>
            <a:r>
              <a:rPr lang="en-US" b="true" sz="2418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PM10 - Slightly larger particles</a:t>
            </a:r>
          </a:p>
          <a:p>
            <a:pPr algn="l" marL="522156" indent="-261078" lvl="1">
              <a:lnSpc>
                <a:spcPts val="4014"/>
              </a:lnSpc>
              <a:buFont typeface="Arial"/>
              <a:buChar char="•"/>
            </a:pPr>
            <a:r>
              <a:rPr lang="en-US" b="true" sz="2418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Black Carbon - Comes from incomplete burning</a:t>
            </a:r>
          </a:p>
          <a:p>
            <a:pPr algn="l" marL="522156" indent="-261078" lvl="1">
              <a:lnSpc>
                <a:spcPts val="4014"/>
              </a:lnSpc>
              <a:buFont typeface="Arial"/>
              <a:buChar char="•"/>
            </a:pPr>
            <a:r>
              <a:rPr lang="en-US" b="true" sz="2418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Organic Carbon - Comes from smoke and combustion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8038056" y="5435256"/>
            <a:ext cx="6271320" cy="3059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12"/>
              </a:lnSpc>
            </a:pPr>
            <a:r>
              <a:rPr lang="en-US" sz="2718" spc="-135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Gaseous Pollutants</a:t>
            </a:r>
          </a:p>
          <a:p>
            <a:pPr algn="l" marL="522156" indent="-261078" lvl="1">
              <a:lnSpc>
                <a:spcPts val="4014"/>
              </a:lnSpc>
              <a:buFont typeface="Arial"/>
              <a:buChar char="•"/>
            </a:pPr>
            <a:r>
              <a:rPr lang="en-US" b="true" sz="2418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</a:t>
            </a:r>
            <a:r>
              <a:rPr lang="en-US" b="true" sz="2418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- From vehicles and burning fuel</a:t>
            </a:r>
          </a:p>
          <a:p>
            <a:pPr algn="l" marL="522156" indent="-261078" lvl="1">
              <a:lnSpc>
                <a:spcPts val="4014"/>
              </a:lnSpc>
              <a:buFont typeface="Arial"/>
              <a:buChar char="•"/>
            </a:pPr>
            <a:r>
              <a:rPr lang="en-US" b="true" sz="2418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NOx- From vehicles and power plants</a:t>
            </a:r>
          </a:p>
          <a:p>
            <a:pPr algn="l" marL="522156" indent="-261078" lvl="1">
              <a:lnSpc>
                <a:spcPts val="4014"/>
              </a:lnSpc>
              <a:buFont typeface="Arial"/>
              <a:buChar char="•"/>
            </a:pPr>
            <a:r>
              <a:rPr lang="en-US" b="true" sz="2418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SO2 - From coal and industrial fuel</a:t>
            </a:r>
          </a:p>
          <a:p>
            <a:pPr algn="l" marL="522156" indent="-261078" lvl="1">
              <a:lnSpc>
                <a:spcPts val="4014"/>
              </a:lnSpc>
              <a:buFont typeface="Arial"/>
              <a:buChar char="•"/>
            </a:pPr>
            <a:r>
              <a:rPr lang="en-US" b="true" sz="2418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VOCs - From fuel, chemicals and vehicles</a:t>
            </a:r>
          </a:p>
          <a:p>
            <a:pPr algn="l" marL="522156" indent="-261078" lvl="1">
              <a:lnSpc>
                <a:spcPts val="4014"/>
              </a:lnSpc>
              <a:buFont typeface="Arial"/>
              <a:buChar char="•"/>
            </a:pPr>
            <a:r>
              <a:rPr lang="en-US" b="true" sz="2418" spc="-12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NH3 - Mostly from agriculture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40998"/>
            <a:ext cx="1985375" cy="1985375"/>
          </a:xfrm>
          <a:custGeom>
            <a:avLst/>
            <a:gdLst/>
            <a:ahLst/>
            <a:cxnLst/>
            <a:rect r="r" b="b" t="t" l="l"/>
            <a:pathLst>
              <a:path h="1985375" w="1985375">
                <a:moveTo>
                  <a:pt x="0" y="0"/>
                </a:moveTo>
                <a:lnTo>
                  <a:pt x="1985375" y="0"/>
                </a:lnTo>
                <a:lnTo>
                  <a:pt x="1985375" y="1985376"/>
                </a:lnTo>
                <a:lnTo>
                  <a:pt x="0" y="19853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16302625" y="40998"/>
            <a:ext cx="1985375" cy="1985375"/>
          </a:xfrm>
          <a:custGeom>
            <a:avLst/>
            <a:gdLst/>
            <a:ahLst/>
            <a:cxnLst/>
            <a:rect r="r" b="b" t="t" l="l"/>
            <a:pathLst>
              <a:path h="1985375" w="1985375">
                <a:moveTo>
                  <a:pt x="0" y="0"/>
                </a:moveTo>
                <a:lnTo>
                  <a:pt x="1985375" y="0"/>
                </a:lnTo>
                <a:lnTo>
                  <a:pt x="1985375" y="1985376"/>
                </a:lnTo>
                <a:lnTo>
                  <a:pt x="0" y="198537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0" y="8301625"/>
            <a:ext cx="1985375" cy="1985375"/>
          </a:xfrm>
          <a:custGeom>
            <a:avLst/>
            <a:gdLst/>
            <a:ahLst/>
            <a:cxnLst/>
            <a:rect r="r" b="b" t="t" l="l"/>
            <a:pathLst>
              <a:path h="1985375" w="1985375">
                <a:moveTo>
                  <a:pt x="0" y="0"/>
                </a:moveTo>
                <a:lnTo>
                  <a:pt x="1985375" y="0"/>
                </a:lnTo>
                <a:lnTo>
                  <a:pt x="1985375" y="1985375"/>
                </a:lnTo>
                <a:lnTo>
                  <a:pt x="0" y="1985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10800000">
            <a:off x="16302625" y="8301625"/>
            <a:ext cx="1985375" cy="1985375"/>
          </a:xfrm>
          <a:custGeom>
            <a:avLst/>
            <a:gdLst/>
            <a:ahLst/>
            <a:cxnLst/>
            <a:rect r="r" b="b" t="t" l="l"/>
            <a:pathLst>
              <a:path h="1985375" w="1985375">
                <a:moveTo>
                  <a:pt x="0" y="0"/>
                </a:moveTo>
                <a:lnTo>
                  <a:pt x="1985375" y="0"/>
                </a:lnTo>
                <a:lnTo>
                  <a:pt x="1985375" y="1985375"/>
                </a:lnTo>
                <a:lnTo>
                  <a:pt x="0" y="198537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151653" y="2005696"/>
            <a:ext cx="6107647" cy="3137804"/>
          </a:xfrm>
          <a:custGeom>
            <a:avLst/>
            <a:gdLst/>
            <a:ahLst/>
            <a:cxnLst/>
            <a:rect r="r" b="b" t="t" l="l"/>
            <a:pathLst>
              <a:path h="3137804" w="6107647">
                <a:moveTo>
                  <a:pt x="0" y="0"/>
                </a:moveTo>
                <a:lnTo>
                  <a:pt x="6107647" y="0"/>
                </a:lnTo>
                <a:lnTo>
                  <a:pt x="6107647" y="3137804"/>
                </a:lnTo>
                <a:lnTo>
                  <a:pt x="0" y="313780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859782" y="1150909"/>
            <a:ext cx="13340863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40"/>
              </a:lnSpc>
              <a:spcBef>
                <a:spcPct val="0"/>
              </a:spcBef>
            </a:pPr>
            <a:r>
              <a:rPr lang="en-US" b="true" sz="4100" spc="-205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Pollutant Trends and Sector-wise Contributions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5400000">
            <a:off x="1588770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400000">
            <a:off x="0" y="788670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0800000">
            <a:off x="15887700" y="7848353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942618" y="5991860"/>
            <a:ext cx="6145232" cy="2911304"/>
          </a:xfrm>
          <a:custGeom>
            <a:avLst/>
            <a:gdLst/>
            <a:ahLst/>
            <a:cxnLst/>
            <a:rect r="r" b="b" t="t" l="l"/>
            <a:pathLst>
              <a:path h="2911304" w="6145232">
                <a:moveTo>
                  <a:pt x="0" y="0"/>
                </a:moveTo>
                <a:lnTo>
                  <a:pt x="6145232" y="0"/>
                </a:lnTo>
                <a:lnTo>
                  <a:pt x="6145232" y="2911304"/>
                </a:lnTo>
                <a:lnTo>
                  <a:pt x="0" y="29113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859782" y="5758644"/>
          <a:ext cx="8468859" cy="3289859"/>
        </p:xfrm>
        <a:graphic>
          <a:graphicData uri="http://schemas.openxmlformats.org/drawingml/2006/table">
            <a:tbl>
              <a:tblPr/>
              <a:tblGrid>
                <a:gridCol w="1696360"/>
                <a:gridCol w="1144291"/>
                <a:gridCol w="1075167"/>
                <a:gridCol w="1118850"/>
                <a:gridCol w="1144730"/>
                <a:gridCol w="1144730"/>
                <a:gridCol w="1144730"/>
              </a:tblGrid>
              <a:tr h="7612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NOX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VOC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SO2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PM10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OP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6129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b="true" sz="1600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Transport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B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b="true" sz="1600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75.8%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B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b="true" sz="1600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15.3%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B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6.9%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B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B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BEC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b="true" sz="1800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ACBEC"/>
                    </a:solidFill>
                  </a:tcPr>
                </a:tc>
              </a:tr>
              <a:tr h="76506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Fires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4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67.2%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4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4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15.8%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4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4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8.6%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4C6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8.5%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D4C6"/>
                    </a:solidFill>
                  </a:tcPr>
                </a:tc>
              </a:tr>
              <a:tr h="100220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Fuel Combustion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A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A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23.5%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A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A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33.7%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A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-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AD4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240"/>
                        </a:lnSpc>
                        <a:defRPr/>
                      </a:pPr>
                      <a:r>
                        <a:rPr lang="en-US" sz="1600" b="true">
                          <a:solidFill>
                            <a:srgbClr val="7C5740"/>
                          </a:solidFill>
                          <a:latin typeface="Open Sauce Bold"/>
                          <a:ea typeface="Open Sauce Bold"/>
                          <a:cs typeface="Open Sauce Bold"/>
                          <a:sym typeface="Open Sauce Bold"/>
                        </a:rPr>
                        <a:t>14.9%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3EAD4"/>
                    </a:solidFill>
                  </a:tcPr>
                </a:tc>
              </a:tr>
            </a:tbl>
          </a:graphicData>
        </a:graphic>
      </p:graphicFrame>
      <p:sp>
        <p:nvSpPr>
          <p:cNvPr name="TextBox 10" id="10"/>
          <p:cNvSpPr txBox="true"/>
          <p:nvPr/>
        </p:nvSpPr>
        <p:spPr>
          <a:xfrm rot="0">
            <a:off x="1706529" y="2191136"/>
            <a:ext cx="5284520" cy="30405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3"/>
              </a:lnSpc>
            </a:pPr>
          </a:p>
          <a:p>
            <a:pPr algn="l" marL="400117" indent="-200059" lvl="1">
              <a:lnSpc>
                <a:spcPts val="1853"/>
              </a:lnSpc>
              <a:buFont typeface="Arial"/>
              <a:buChar char="•"/>
            </a:pPr>
            <a:r>
              <a:rPr lang="en-US" b="true" sz="1853" spc="-9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 emissions dropped by about (- 54.8%)</a:t>
            </a:r>
          </a:p>
          <a:p>
            <a:pPr algn="l">
              <a:lnSpc>
                <a:spcPts val="1853"/>
              </a:lnSpc>
            </a:pPr>
          </a:p>
          <a:p>
            <a:pPr algn="l" marL="400117" indent="-200059" lvl="1">
              <a:lnSpc>
                <a:spcPts val="1853"/>
              </a:lnSpc>
              <a:buFont typeface="Arial"/>
              <a:buChar char="•"/>
            </a:pPr>
            <a:r>
              <a:rPr lang="en-US" b="true" sz="1853" spc="-9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NOX significantly reduced (75.6%)</a:t>
            </a:r>
          </a:p>
          <a:p>
            <a:pPr algn="l">
              <a:lnSpc>
                <a:spcPts val="1853"/>
              </a:lnSpc>
            </a:pPr>
          </a:p>
          <a:p>
            <a:pPr algn="l" marL="400117" indent="-200059" lvl="1">
              <a:lnSpc>
                <a:spcPts val="1853"/>
              </a:lnSpc>
              <a:buFont typeface="Arial"/>
              <a:buChar char="•"/>
            </a:pPr>
            <a:r>
              <a:rPr lang="en-US" b="true" sz="1853" spc="-9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VOC moderate reduction (-26.3%)</a:t>
            </a:r>
          </a:p>
          <a:p>
            <a:pPr algn="l">
              <a:lnSpc>
                <a:spcPts val="1853"/>
              </a:lnSpc>
            </a:pPr>
          </a:p>
          <a:p>
            <a:pPr algn="l" marL="400117" indent="-200059" lvl="1">
              <a:lnSpc>
                <a:spcPts val="1853"/>
              </a:lnSpc>
              <a:buFont typeface="Arial"/>
              <a:buChar char="•"/>
            </a:pPr>
            <a:r>
              <a:rPr lang="en-US" b="true" sz="1853" spc="-9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SO2 largest reduction (-88.7%)</a:t>
            </a:r>
          </a:p>
          <a:p>
            <a:pPr algn="l">
              <a:lnSpc>
                <a:spcPts val="1853"/>
              </a:lnSpc>
            </a:pPr>
          </a:p>
          <a:p>
            <a:pPr algn="l" marL="400117" indent="-200059" lvl="1">
              <a:lnSpc>
                <a:spcPts val="1853"/>
              </a:lnSpc>
              <a:buFont typeface="Arial"/>
              <a:buChar char="•"/>
            </a:pPr>
            <a:r>
              <a:rPr lang="en-US" b="true" sz="1853" spc="-9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PM10 nearly stable (-1.5%)</a:t>
            </a:r>
          </a:p>
          <a:p>
            <a:pPr algn="l">
              <a:lnSpc>
                <a:spcPts val="1853"/>
              </a:lnSpc>
            </a:pPr>
          </a:p>
          <a:p>
            <a:pPr algn="l" marL="400117" indent="-200059" lvl="1">
              <a:lnSpc>
                <a:spcPts val="1853"/>
              </a:lnSpc>
              <a:buFont typeface="Arial"/>
              <a:buChar char="•"/>
            </a:pPr>
            <a:r>
              <a:rPr lang="en-US" b="true" sz="1853" spc="-9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PM2.5 slight increase (+1.8%)</a:t>
            </a:r>
          </a:p>
          <a:p>
            <a:pPr algn="l">
              <a:lnSpc>
                <a:spcPts val="2223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9782" y="1150909"/>
            <a:ext cx="13340863" cy="7054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40"/>
              </a:lnSpc>
              <a:spcBef>
                <a:spcPct val="0"/>
              </a:spcBef>
            </a:pPr>
            <a:r>
              <a:rPr lang="en-US" b="true" sz="4100" spc="-205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</a:t>
            </a:r>
            <a:r>
              <a:rPr lang="en-US" b="true" sz="4100" spc="-205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 10 Emitting States: 2002 vs 2024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88770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0" y="788670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887700" y="7848353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77807" y="2617955"/>
            <a:ext cx="5727227" cy="3167719"/>
          </a:xfrm>
          <a:custGeom>
            <a:avLst/>
            <a:gdLst/>
            <a:ahLst/>
            <a:cxnLst/>
            <a:rect r="r" b="b" t="t" l="l"/>
            <a:pathLst>
              <a:path h="3167719" w="5727227">
                <a:moveTo>
                  <a:pt x="0" y="0"/>
                </a:moveTo>
                <a:lnTo>
                  <a:pt x="5727227" y="0"/>
                </a:lnTo>
                <a:lnTo>
                  <a:pt x="5727227" y="3167719"/>
                </a:lnTo>
                <a:lnTo>
                  <a:pt x="0" y="31677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7588" r="0" b="-7588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77807" y="6295716"/>
            <a:ext cx="5727227" cy="3181969"/>
          </a:xfrm>
          <a:custGeom>
            <a:avLst/>
            <a:gdLst/>
            <a:ahLst/>
            <a:cxnLst/>
            <a:rect r="r" b="b" t="t" l="l"/>
            <a:pathLst>
              <a:path h="3181969" w="5727227">
                <a:moveTo>
                  <a:pt x="0" y="0"/>
                </a:moveTo>
                <a:lnTo>
                  <a:pt x="5727227" y="0"/>
                </a:lnTo>
                <a:lnTo>
                  <a:pt x="5727227" y="3181968"/>
                </a:lnTo>
                <a:lnTo>
                  <a:pt x="0" y="31819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7552" r="0" b="-755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84288" y="3827385"/>
            <a:ext cx="8132266" cy="34766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22720" indent="-261360" lvl="1">
              <a:lnSpc>
                <a:spcPts val="2905"/>
              </a:lnSpc>
              <a:buFont typeface="Arial"/>
              <a:buChar char="•"/>
            </a:pPr>
            <a:r>
              <a:rPr lang="en-US" b="true" sz="2421" spc="-121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Some states like California, Texas and Florida remain in </a:t>
            </a:r>
          </a:p>
          <a:p>
            <a:pPr algn="l">
              <a:lnSpc>
                <a:spcPts val="2905"/>
              </a:lnSpc>
            </a:pPr>
            <a:r>
              <a:rPr lang="en-US" sz="2421" spc="-121" b="true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       the top emitters list.</a:t>
            </a:r>
          </a:p>
          <a:p>
            <a:pPr algn="l">
              <a:lnSpc>
                <a:spcPts val="2665"/>
              </a:lnSpc>
            </a:pPr>
          </a:p>
          <a:p>
            <a:pPr algn="l" marL="522720" indent="-261360" lvl="1">
              <a:lnSpc>
                <a:spcPts val="2905"/>
              </a:lnSpc>
              <a:buFont typeface="Arial"/>
              <a:buChar char="•"/>
            </a:pPr>
            <a:r>
              <a:rPr lang="en-US" b="true" sz="2421" spc="-121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Several states moved in and out of the top 10.</a:t>
            </a:r>
          </a:p>
          <a:p>
            <a:pPr algn="l">
              <a:lnSpc>
                <a:spcPts val="2665"/>
              </a:lnSpc>
            </a:pPr>
          </a:p>
          <a:p>
            <a:pPr algn="l" marL="522720" indent="-261360" lvl="1">
              <a:lnSpc>
                <a:spcPts val="2905"/>
              </a:lnSpc>
              <a:buFont typeface="Arial"/>
              <a:buChar char="•"/>
            </a:pPr>
            <a:r>
              <a:rPr lang="en-US" b="true" sz="2421" spc="-121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Em</a:t>
            </a:r>
            <a:r>
              <a:rPr lang="en-US" b="true" sz="2421" spc="-121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ission distribution changed over time</a:t>
            </a:r>
            <a:r>
              <a:rPr lang="en-US" b="true" sz="2421" spc="-121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algn="l">
              <a:lnSpc>
                <a:spcPts val="2665"/>
              </a:lnSpc>
            </a:pPr>
          </a:p>
          <a:p>
            <a:pPr algn="l" marL="522720" indent="-261360" lvl="1">
              <a:lnSpc>
                <a:spcPts val="2905"/>
              </a:lnSpc>
              <a:buFont typeface="Arial"/>
              <a:buChar char="•"/>
            </a:pPr>
            <a:r>
              <a:rPr lang="en-US" b="true" sz="2421" spc="-121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Policies and cleaner energy influenced trends.</a:t>
            </a:r>
          </a:p>
          <a:p>
            <a:pPr algn="l">
              <a:lnSpc>
                <a:spcPts val="2665"/>
              </a:lnSpc>
            </a:pPr>
          </a:p>
          <a:p>
            <a:pPr algn="l">
              <a:lnSpc>
                <a:spcPts val="2665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10777807" y="2267080"/>
            <a:ext cx="4910721" cy="350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21"/>
              </a:lnSpc>
              <a:spcBef>
                <a:spcPct val="0"/>
              </a:spcBef>
            </a:pPr>
            <a:r>
              <a:rPr lang="en-US" b="true" sz="1820" spc="-91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Top 10 Emitting States (2002)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777807" y="5991354"/>
            <a:ext cx="4036985" cy="305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8"/>
              </a:lnSpc>
              <a:spcBef>
                <a:spcPct val="0"/>
              </a:spcBef>
            </a:pPr>
            <a:r>
              <a:rPr lang="en-US" b="true" sz="1834" spc="-91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Top 10 Emitting States (2024)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9782" y="1169959"/>
            <a:ext cx="13998480" cy="653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60"/>
              </a:lnSpc>
              <a:spcBef>
                <a:spcPct val="0"/>
              </a:spcBef>
            </a:pPr>
            <a:r>
              <a:rPr lang="en-US" b="true" sz="3900" spc="-195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Renewable Energy Growth vs Emission Changes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88770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0" y="788670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887700" y="7848353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623948" y="2236671"/>
            <a:ext cx="4733578" cy="3574668"/>
          </a:xfrm>
          <a:custGeom>
            <a:avLst/>
            <a:gdLst/>
            <a:ahLst/>
            <a:cxnLst/>
            <a:rect r="r" b="b" t="t" l="l"/>
            <a:pathLst>
              <a:path h="3574668" w="4733578">
                <a:moveTo>
                  <a:pt x="0" y="0"/>
                </a:moveTo>
                <a:lnTo>
                  <a:pt x="4733579" y="0"/>
                </a:lnTo>
                <a:lnTo>
                  <a:pt x="4733579" y="3574668"/>
                </a:lnTo>
                <a:lnTo>
                  <a:pt x="0" y="35746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215827" y="3263370"/>
            <a:ext cx="6830804" cy="1019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Biomass has the highest consumption across all years.</a:t>
            </a:r>
          </a:p>
          <a:p>
            <a:pPr algn="l">
              <a:lnSpc>
                <a:spcPts val="2207"/>
              </a:lnSpc>
            </a:pP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00300" y="5143500"/>
            <a:ext cx="7106719" cy="4077480"/>
          </a:xfrm>
          <a:custGeom>
            <a:avLst/>
            <a:gdLst/>
            <a:ahLst/>
            <a:cxnLst/>
            <a:rect r="r" b="b" t="t" l="l"/>
            <a:pathLst>
              <a:path h="4077480" w="7106719">
                <a:moveTo>
                  <a:pt x="0" y="0"/>
                </a:moveTo>
                <a:lnTo>
                  <a:pt x="7106719" y="0"/>
                </a:lnTo>
                <a:lnTo>
                  <a:pt x="7106719" y="4077480"/>
                </a:lnTo>
                <a:lnTo>
                  <a:pt x="0" y="40774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040419" y="6086228"/>
            <a:ext cx="6830804" cy="2781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9"/>
              </a:lnSpc>
            </a:pP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Renewable energy increased a lot more than doubled since 2002</a:t>
            </a: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algn="l">
              <a:lnSpc>
                <a:spcPts val="2999"/>
              </a:lnSpc>
            </a:pPr>
          </a:p>
          <a:p>
            <a:pPr algn="l" marL="539749" indent="-269875" lvl="1">
              <a:lnSpc>
                <a:spcPts val="2999"/>
              </a:lnSpc>
              <a:buFont typeface="Arial"/>
              <a:buChar char="•"/>
            </a:pP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P</a:t>
            </a:r>
            <a:r>
              <a:rPr lang="en-US" b="true" sz="2499" spc="-124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ollution has reduced by more than half compared to the year 2002.</a:t>
            </a:r>
          </a:p>
          <a:p>
            <a:pPr algn="l">
              <a:lnSpc>
                <a:spcPts val="2207"/>
              </a:lnSpc>
            </a:pPr>
          </a:p>
          <a:p>
            <a:pPr algn="l">
              <a:lnSpc>
                <a:spcPts val="2207"/>
              </a:lnSpc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9782" y="1169959"/>
            <a:ext cx="13998480" cy="6369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b="true" sz="3800" spc="-190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Vehicle Growth vs Transportation Emission Trend (2002–2024)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5400000">
            <a:off x="15887700" y="40998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400000">
            <a:off x="0" y="7886700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10800000">
            <a:off x="15887700" y="7848353"/>
            <a:ext cx="2400300" cy="2400300"/>
          </a:xfrm>
          <a:custGeom>
            <a:avLst/>
            <a:gdLst/>
            <a:ahLst/>
            <a:cxnLst/>
            <a:rect r="r" b="b" t="t" l="l"/>
            <a:pathLst>
              <a:path h="2400300" w="2400300">
                <a:moveTo>
                  <a:pt x="0" y="0"/>
                </a:moveTo>
                <a:lnTo>
                  <a:pt x="2400300" y="0"/>
                </a:lnTo>
                <a:lnTo>
                  <a:pt x="240030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977202" y="3167299"/>
            <a:ext cx="7510502" cy="3952402"/>
          </a:xfrm>
          <a:custGeom>
            <a:avLst/>
            <a:gdLst/>
            <a:ahLst/>
            <a:cxnLst/>
            <a:rect r="r" b="b" t="t" l="l"/>
            <a:pathLst>
              <a:path h="3952402" w="7510502">
                <a:moveTo>
                  <a:pt x="0" y="0"/>
                </a:moveTo>
                <a:lnTo>
                  <a:pt x="7510502" y="0"/>
                </a:lnTo>
                <a:lnTo>
                  <a:pt x="7510502" y="3952402"/>
                </a:lnTo>
                <a:lnTo>
                  <a:pt x="0" y="395240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684288" y="3827385"/>
            <a:ext cx="6982088" cy="2952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0463" indent="-210231" lvl="1">
              <a:lnSpc>
                <a:spcPts val="2336"/>
              </a:lnSpc>
              <a:buFont typeface="Arial"/>
              <a:buChar char="•"/>
            </a:pPr>
            <a:r>
              <a:rPr lang="en-US" b="true" sz="1947" spc="-97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Vehicle numbers increased steadily from 2002 to 2024.</a:t>
            </a:r>
          </a:p>
          <a:p>
            <a:pPr algn="l">
              <a:lnSpc>
                <a:spcPts val="2336"/>
              </a:lnSpc>
            </a:pPr>
          </a:p>
          <a:p>
            <a:pPr algn="l" marL="420463" indent="-210231" lvl="1">
              <a:lnSpc>
                <a:spcPts val="2336"/>
              </a:lnSpc>
              <a:buFont typeface="Arial"/>
              <a:buChar char="•"/>
            </a:pPr>
            <a:r>
              <a:rPr lang="en-US" b="true" sz="1947" spc="-97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Transportation emissions decreased significantly during the same period.</a:t>
            </a:r>
          </a:p>
          <a:p>
            <a:pPr algn="l">
              <a:lnSpc>
                <a:spcPts val="2336"/>
              </a:lnSpc>
            </a:pPr>
          </a:p>
          <a:p>
            <a:pPr algn="l" marL="420463" indent="-210231" lvl="1">
              <a:lnSpc>
                <a:spcPts val="2336"/>
              </a:lnSpc>
              <a:buFont typeface="Arial"/>
              <a:buChar char="•"/>
            </a:pPr>
            <a:r>
              <a:rPr lang="en-US" b="true" sz="1947" spc="-97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That shows the improvement in vehicle technology have helped reduce pollution</a:t>
            </a:r>
            <a:r>
              <a:rPr lang="en-US" b="true" sz="1947" spc="-97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algn="l">
              <a:lnSpc>
                <a:spcPts val="2336"/>
              </a:lnSpc>
            </a:pPr>
          </a:p>
          <a:p>
            <a:pPr algn="l">
              <a:lnSpc>
                <a:spcPts val="2336"/>
              </a:lnSpc>
            </a:pPr>
          </a:p>
          <a:p>
            <a:pPr algn="l">
              <a:lnSpc>
                <a:spcPts val="2336"/>
              </a:lnSpc>
            </a:pP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077003" y="5124976"/>
            <a:ext cx="3357681" cy="3151615"/>
            <a:chOff x="0" y="0"/>
            <a:chExt cx="605636" cy="5684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05636" cy="568467"/>
            </a:xfrm>
            <a:custGeom>
              <a:avLst/>
              <a:gdLst/>
              <a:ahLst/>
              <a:cxnLst/>
              <a:rect r="r" b="b" t="t" l="l"/>
              <a:pathLst>
                <a:path h="568467" w="605636">
                  <a:moveTo>
                    <a:pt x="46115" y="0"/>
                  </a:moveTo>
                  <a:lnTo>
                    <a:pt x="559522" y="0"/>
                  </a:lnTo>
                  <a:cubicBezTo>
                    <a:pt x="584990" y="0"/>
                    <a:pt x="605636" y="20646"/>
                    <a:pt x="605636" y="46115"/>
                  </a:cubicBezTo>
                  <a:lnTo>
                    <a:pt x="605636" y="522353"/>
                  </a:lnTo>
                  <a:cubicBezTo>
                    <a:pt x="605636" y="547821"/>
                    <a:pt x="584990" y="568467"/>
                    <a:pt x="559522" y="568467"/>
                  </a:cubicBezTo>
                  <a:lnTo>
                    <a:pt x="46115" y="568467"/>
                  </a:lnTo>
                  <a:cubicBezTo>
                    <a:pt x="20646" y="568467"/>
                    <a:pt x="0" y="547821"/>
                    <a:pt x="0" y="522353"/>
                  </a:cubicBezTo>
                  <a:lnTo>
                    <a:pt x="0" y="46115"/>
                  </a:lnTo>
                  <a:cubicBezTo>
                    <a:pt x="0" y="20646"/>
                    <a:pt x="20646" y="0"/>
                    <a:pt x="46115" y="0"/>
                  </a:cubicBezTo>
                  <a:close/>
                </a:path>
              </a:pathLst>
            </a:custGeom>
            <a:blipFill>
              <a:blip r:embed="rId2"/>
              <a:stretch>
                <a:fillRect l="-20441" t="0" r="-20441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600863" y="721435"/>
            <a:ext cx="4385147" cy="11112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099"/>
              </a:lnSpc>
              <a:spcBef>
                <a:spcPct val="0"/>
              </a:spcBef>
            </a:pPr>
            <a:r>
              <a:rPr lang="en-US" b="true" sz="6499" spc="-519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Conclusion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9403658" y="1028700"/>
            <a:ext cx="3357681" cy="3151615"/>
            <a:chOff x="0" y="0"/>
            <a:chExt cx="605636" cy="568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05636" cy="568467"/>
            </a:xfrm>
            <a:custGeom>
              <a:avLst/>
              <a:gdLst/>
              <a:ahLst/>
              <a:cxnLst/>
              <a:rect r="r" b="b" t="t" l="l"/>
              <a:pathLst>
                <a:path h="568467" w="605636">
                  <a:moveTo>
                    <a:pt x="46115" y="0"/>
                  </a:moveTo>
                  <a:lnTo>
                    <a:pt x="559522" y="0"/>
                  </a:lnTo>
                  <a:cubicBezTo>
                    <a:pt x="584990" y="0"/>
                    <a:pt x="605636" y="20646"/>
                    <a:pt x="605636" y="46115"/>
                  </a:cubicBezTo>
                  <a:lnTo>
                    <a:pt x="605636" y="522353"/>
                  </a:lnTo>
                  <a:cubicBezTo>
                    <a:pt x="605636" y="547821"/>
                    <a:pt x="584990" y="568467"/>
                    <a:pt x="559522" y="568467"/>
                  </a:cubicBezTo>
                  <a:lnTo>
                    <a:pt x="46115" y="568467"/>
                  </a:lnTo>
                  <a:cubicBezTo>
                    <a:pt x="20646" y="568467"/>
                    <a:pt x="0" y="547821"/>
                    <a:pt x="0" y="522353"/>
                  </a:cubicBezTo>
                  <a:lnTo>
                    <a:pt x="0" y="46115"/>
                  </a:lnTo>
                  <a:cubicBezTo>
                    <a:pt x="0" y="20646"/>
                    <a:pt x="20646" y="0"/>
                    <a:pt x="46115" y="0"/>
                  </a:cubicBezTo>
                  <a:close/>
                </a:path>
              </a:pathLst>
            </a:custGeom>
            <a:blipFill>
              <a:blip r:embed="rId3"/>
              <a:stretch>
                <a:fillRect l="0" t="0" r="-40882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1325912" y="2455684"/>
            <a:ext cx="7477712" cy="63725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70088" indent="-285044" lvl="1">
              <a:lnSpc>
                <a:spcPts val="3168"/>
              </a:lnSpc>
              <a:buFont typeface="Arial"/>
              <a:buChar char="•"/>
            </a:pPr>
            <a:r>
              <a:rPr lang="en-US" b="true" sz="2640" spc="-13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From 2002 to 2024, air pollution has clearly decreased.</a:t>
            </a:r>
          </a:p>
          <a:p>
            <a:pPr algn="just" marL="570088" indent="-285044" lvl="1">
              <a:lnSpc>
                <a:spcPts val="3168"/>
              </a:lnSpc>
              <a:buFont typeface="Arial"/>
              <a:buChar char="•"/>
            </a:pPr>
            <a:r>
              <a:rPr lang="en-US" b="true" sz="2640" spc="-13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biggest improvements happened in the transportation and fuel combustion sectors.</a:t>
            </a:r>
          </a:p>
          <a:p>
            <a:pPr algn="just" marL="570088" indent="-285044" lvl="1">
              <a:lnSpc>
                <a:spcPts val="3168"/>
              </a:lnSpc>
              <a:buFont typeface="Arial"/>
              <a:buChar char="•"/>
            </a:pPr>
            <a:r>
              <a:rPr lang="en-US" b="true" sz="2640" spc="-13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Harmful pollutants such as CO, SO₂, and NOx have reduced over time.</a:t>
            </a:r>
          </a:p>
          <a:p>
            <a:pPr algn="just" marL="570088" indent="-285044" lvl="1">
              <a:lnSpc>
                <a:spcPts val="3168"/>
              </a:lnSpc>
              <a:buFont typeface="Arial"/>
              <a:buChar char="•"/>
            </a:pPr>
            <a:r>
              <a:rPr lang="en-US" b="true" sz="2640" spc="-13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This reduction happened because vehicles became cleaner and engines became more efficient.</a:t>
            </a:r>
          </a:p>
          <a:p>
            <a:pPr algn="just" marL="570088" indent="-285044" lvl="1">
              <a:lnSpc>
                <a:spcPts val="3168"/>
              </a:lnSpc>
              <a:buFont typeface="Arial"/>
              <a:buChar char="•"/>
            </a:pPr>
            <a:r>
              <a:rPr lang="en-US" b="true" sz="2640" spc="-13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Fuel quality also improved, which helped lower emissions.</a:t>
            </a:r>
          </a:p>
          <a:p>
            <a:pPr algn="just" marL="570088" indent="-285044" lvl="1">
              <a:lnSpc>
                <a:spcPts val="3168"/>
              </a:lnSpc>
              <a:buFont typeface="Arial"/>
              <a:buChar char="•"/>
            </a:pPr>
            <a:r>
              <a:rPr lang="en-US" b="true" sz="2640" spc="-13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Government regulations played an important role in controlling air pollution</a:t>
            </a:r>
            <a:r>
              <a:rPr lang="en-US" b="true" sz="2640" spc="-13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.</a:t>
            </a:r>
          </a:p>
          <a:p>
            <a:pPr algn="just" marL="570088" indent="-285044" lvl="1">
              <a:lnSpc>
                <a:spcPts val="3168"/>
              </a:lnSpc>
              <a:buFont typeface="Arial"/>
              <a:buChar char="•"/>
            </a:pPr>
            <a:r>
              <a:rPr lang="en-US" b="true" sz="2640" spc="-132">
                <a:solidFill>
                  <a:srgbClr val="7C574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The growth of renewable energy also contributed to reducing air pollution.</a:t>
            </a:r>
          </a:p>
          <a:p>
            <a:pPr algn="just">
              <a:lnSpc>
                <a:spcPts val="3300"/>
              </a:lnSpc>
            </a:pPr>
          </a:p>
        </p:txBody>
      </p:sp>
      <p:grpSp>
        <p:nvGrpSpPr>
          <p:cNvPr name="Group 8" id="8"/>
          <p:cNvGrpSpPr/>
          <p:nvPr/>
        </p:nvGrpSpPr>
        <p:grpSpPr>
          <a:xfrm rot="0">
            <a:off x="9419386" y="4916992"/>
            <a:ext cx="7636366" cy="3911252"/>
            <a:chOff x="0" y="0"/>
            <a:chExt cx="2011224" cy="1030124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011224" cy="1030124"/>
            </a:xfrm>
            <a:custGeom>
              <a:avLst/>
              <a:gdLst/>
              <a:ahLst/>
              <a:cxnLst/>
              <a:rect r="r" b="b" t="t" l="l"/>
              <a:pathLst>
                <a:path h="1030124" w="2011224">
                  <a:moveTo>
                    <a:pt x="25346" y="0"/>
                  </a:moveTo>
                  <a:lnTo>
                    <a:pt x="1985878" y="0"/>
                  </a:lnTo>
                  <a:cubicBezTo>
                    <a:pt x="1999876" y="0"/>
                    <a:pt x="2011224" y="11348"/>
                    <a:pt x="2011224" y="25346"/>
                  </a:cubicBezTo>
                  <a:lnTo>
                    <a:pt x="2011224" y="1004778"/>
                  </a:lnTo>
                  <a:cubicBezTo>
                    <a:pt x="2011224" y="1018776"/>
                    <a:pt x="1999876" y="1030124"/>
                    <a:pt x="1985878" y="1030124"/>
                  </a:cubicBezTo>
                  <a:lnTo>
                    <a:pt x="25346" y="1030124"/>
                  </a:lnTo>
                  <a:cubicBezTo>
                    <a:pt x="11348" y="1030124"/>
                    <a:pt x="0" y="1018776"/>
                    <a:pt x="0" y="1004778"/>
                  </a:cubicBezTo>
                  <a:lnTo>
                    <a:pt x="0" y="25346"/>
                  </a:lnTo>
                  <a:cubicBezTo>
                    <a:pt x="0" y="11348"/>
                    <a:pt x="11348" y="0"/>
                    <a:pt x="25346" y="0"/>
                  </a:cubicBezTo>
                  <a:close/>
                </a:path>
              </a:pathLst>
            </a:custGeom>
            <a:solidFill>
              <a:srgbClr val="4B3C3D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011224" cy="105869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584655" y="5120014"/>
            <a:ext cx="7305828" cy="3505210"/>
            <a:chOff x="0" y="0"/>
            <a:chExt cx="1317777" cy="63224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7777" cy="632247"/>
            </a:xfrm>
            <a:custGeom>
              <a:avLst/>
              <a:gdLst/>
              <a:ahLst/>
              <a:cxnLst/>
              <a:rect r="r" b="b" t="t" l="l"/>
              <a:pathLst>
                <a:path h="632247" w="1317777">
                  <a:moveTo>
                    <a:pt x="21194" y="0"/>
                  </a:moveTo>
                  <a:lnTo>
                    <a:pt x="1296583" y="0"/>
                  </a:lnTo>
                  <a:cubicBezTo>
                    <a:pt x="1308288" y="0"/>
                    <a:pt x="1317777" y="9489"/>
                    <a:pt x="1317777" y="21194"/>
                  </a:cubicBezTo>
                  <a:lnTo>
                    <a:pt x="1317777" y="611053"/>
                  </a:lnTo>
                  <a:cubicBezTo>
                    <a:pt x="1317777" y="622758"/>
                    <a:pt x="1308288" y="632247"/>
                    <a:pt x="1296583" y="632247"/>
                  </a:cubicBezTo>
                  <a:lnTo>
                    <a:pt x="21194" y="632247"/>
                  </a:lnTo>
                  <a:cubicBezTo>
                    <a:pt x="9489" y="632247"/>
                    <a:pt x="0" y="622758"/>
                    <a:pt x="0" y="611053"/>
                  </a:cubicBezTo>
                  <a:lnTo>
                    <a:pt x="0" y="21194"/>
                  </a:lnTo>
                  <a:cubicBezTo>
                    <a:pt x="0" y="9489"/>
                    <a:pt x="9489" y="0"/>
                    <a:pt x="2119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8620" r="0" b="-862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3532803" y="1028700"/>
            <a:ext cx="3357681" cy="3151615"/>
            <a:chOff x="0" y="0"/>
            <a:chExt cx="605636" cy="56846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605636" cy="568467"/>
            </a:xfrm>
            <a:custGeom>
              <a:avLst/>
              <a:gdLst/>
              <a:ahLst/>
              <a:cxnLst/>
              <a:rect r="r" b="b" t="t" l="l"/>
              <a:pathLst>
                <a:path h="568467" w="605636">
                  <a:moveTo>
                    <a:pt x="46115" y="0"/>
                  </a:moveTo>
                  <a:lnTo>
                    <a:pt x="559522" y="0"/>
                  </a:lnTo>
                  <a:cubicBezTo>
                    <a:pt x="584990" y="0"/>
                    <a:pt x="605636" y="20646"/>
                    <a:pt x="605636" y="46115"/>
                  </a:cubicBezTo>
                  <a:lnTo>
                    <a:pt x="605636" y="522353"/>
                  </a:lnTo>
                  <a:cubicBezTo>
                    <a:pt x="605636" y="547821"/>
                    <a:pt x="584990" y="568467"/>
                    <a:pt x="559522" y="568467"/>
                  </a:cubicBezTo>
                  <a:lnTo>
                    <a:pt x="46115" y="568467"/>
                  </a:lnTo>
                  <a:cubicBezTo>
                    <a:pt x="20646" y="568467"/>
                    <a:pt x="0" y="547821"/>
                    <a:pt x="0" y="522353"/>
                  </a:cubicBezTo>
                  <a:lnTo>
                    <a:pt x="0" y="46115"/>
                  </a:lnTo>
                  <a:cubicBezTo>
                    <a:pt x="0" y="20646"/>
                    <a:pt x="20646" y="0"/>
                    <a:pt x="46115" y="0"/>
                  </a:cubicBezTo>
                  <a:close/>
                </a:path>
              </a:pathLst>
            </a:custGeom>
            <a:blipFill>
              <a:blip r:embed="rId5"/>
              <a:stretch>
                <a:fillRect l="0" t="0" r="-40882" b="0"/>
              </a:stretch>
            </a:blipFill>
          </p:spPr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904314" y="2926348"/>
            <a:ext cx="5354986" cy="1730489"/>
            <a:chOff x="0" y="0"/>
            <a:chExt cx="965897" cy="312134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65897" cy="312134"/>
            </a:xfrm>
            <a:custGeom>
              <a:avLst/>
              <a:gdLst/>
              <a:ahLst/>
              <a:cxnLst/>
              <a:rect r="r" b="b" t="t" l="l"/>
              <a:pathLst>
                <a:path h="312134" w="965897">
                  <a:moveTo>
                    <a:pt x="28915" y="0"/>
                  </a:moveTo>
                  <a:lnTo>
                    <a:pt x="936982" y="0"/>
                  </a:lnTo>
                  <a:cubicBezTo>
                    <a:pt x="952951" y="0"/>
                    <a:pt x="965897" y="12946"/>
                    <a:pt x="965897" y="28915"/>
                  </a:cubicBezTo>
                  <a:lnTo>
                    <a:pt x="965897" y="283219"/>
                  </a:lnTo>
                  <a:cubicBezTo>
                    <a:pt x="965897" y="290888"/>
                    <a:pt x="962851" y="298243"/>
                    <a:pt x="957428" y="303665"/>
                  </a:cubicBezTo>
                  <a:cubicBezTo>
                    <a:pt x="952005" y="309088"/>
                    <a:pt x="944651" y="312134"/>
                    <a:pt x="936982" y="312134"/>
                  </a:cubicBezTo>
                  <a:lnTo>
                    <a:pt x="28915" y="312134"/>
                  </a:lnTo>
                  <a:cubicBezTo>
                    <a:pt x="12946" y="312134"/>
                    <a:pt x="0" y="299189"/>
                    <a:pt x="0" y="283219"/>
                  </a:cubicBezTo>
                  <a:lnTo>
                    <a:pt x="0" y="28915"/>
                  </a:lnTo>
                  <a:cubicBezTo>
                    <a:pt x="0" y="21246"/>
                    <a:pt x="3046" y="13892"/>
                    <a:pt x="8469" y="8469"/>
                  </a:cubicBezTo>
                  <a:cubicBezTo>
                    <a:pt x="13892" y="3046"/>
                    <a:pt x="21246" y="0"/>
                    <a:pt x="28915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04724" r="0" b="-104724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1341851" y="1853901"/>
            <a:ext cx="10118757" cy="26981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409"/>
              </a:lnSpc>
            </a:pPr>
            <a:r>
              <a:rPr lang="en-US" sz="17840" spc="-1427">
                <a:solidFill>
                  <a:srgbClr val="4B3C3D"/>
                </a:solidFill>
                <a:latin typeface="Open Sauce"/>
                <a:ea typeface="Open Sauce"/>
                <a:cs typeface="Open Sauce"/>
                <a:sym typeface="Open Sauce"/>
              </a:rPr>
              <a:t>Thank You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1028700" y="5514036"/>
            <a:ext cx="7244219" cy="3744264"/>
            <a:chOff x="0" y="0"/>
            <a:chExt cx="1907943" cy="98614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907942" cy="986144"/>
            </a:xfrm>
            <a:custGeom>
              <a:avLst/>
              <a:gdLst/>
              <a:ahLst/>
              <a:cxnLst/>
              <a:rect r="r" b="b" t="t" l="l"/>
              <a:pathLst>
                <a:path h="986144" w="1907942">
                  <a:moveTo>
                    <a:pt x="26718" y="0"/>
                  </a:moveTo>
                  <a:lnTo>
                    <a:pt x="1881225" y="0"/>
                  </a:lnTo>
                  <a:cubicBezTo>
                    <a:pt x="1895981" y="0"/>
                    <a:pt x="1907942" y="11962"/>
                    <a:pt x="1907942" y="26718"/>
                  </a:cubicBezTo>
                  <a:lnTo>
                    <a:pt x="1907942" y="959426"/>
                  </a:lnTo>
                  <a:cubicBezTo>
                    <a:pt x="1907942" y="966512"/>
                    <a:pt x="1905128" y="973308"/>
                    <a:pt x="1900117" y="978318"/>
                  </a:cubicBezTo>
                  <a:cubicBezTo>
                    <a:pt x="1895107" y="983329"/>
                    <a:pt x="1888311" y="986144"/>
                    <a:pt x="1881225" y="986144"/>
                  </a:cubicBezTo>
                  <a:lnTo>
                    <a:pt x="26718" y="986144"/>
                  </a:lnTo>
                  <a:cubicBezTo>
                    <a:pt x="11962" y="986144"/>
                    <a:pt x="0" y="974182"/>
                    <a:pt x="0" y="959426"/>
                  </a:cubicBezTo>
                  <a:lnTo>
                    <a:pt x="0" y="26718"/>
                  </a:lnTo>
                  <a:cubicBezTo>
                    <a:pt x="0" y="19632"/>
                    <a:pt x="2815" y="12836"/>
                    <a:pt x="7825" y="7825"/>
                  </a:cubicBezTo>
                  <a:cubicBezTo>
                    <a:pt x="12836" y="2815"/>
                    <a:pt x="19632" y="0"/>
                    <a:pt x="26718" y="0"/>
                  </a:cubicBezTo>
                  <a:close/>
                </a:path>
              </a:pathLst>
            </a:custGeom>
            <a:solidFill>
              <a:srgbClr val="4B3C3D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907943" cy="10147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573691" y="6137669"/>
            <a:ext cx="4545887" cy="3656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 i="true" spc="-104">
                <a:solidFill>
                  <a:srgbClr val="DBD2D2"/>
                </a:solidFill>
                <a:latin typeface="Open Sauce Bold Italics"/>
                <a:ea typeface="Open Sauce Bold Italics"/>
                <a:cs typeface="Open Sauce Bold Italics"/>
                <a:sym typeface="Open Sauce Bold Italics"/>
              </a:rPr>
              <a:t>Get In Touch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904314" y="5514036"/>
            <a:ext cx="5354986" cy="3744264"/>
            <a:chOff x="0" y="0"/>
            <a:chExt cx="965897" cy="6753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65897" cy="675366"/>
            </a:xfrm>
            <a:custGeom>
              <a:avLst/>
              <a:gdLst/>
              <a:ahLst/>
              <a:cxnLst/>
              <a:rect r="r" b="b" t="t" l="l"/>
              <a:pathLst>
                <a:path h="675366" w="965897">
                  <a:moveTo>
                    <a:pt x="28915" y="0"/>
                  </a:moveTo>
                  <a:lnTo>
                    <a:pt x="936982" y="0"/>
                  </a:lnTo>
                  <a:cubicBezTo>
                    <a:pt x="952951" y="0"/>
                    <a:pt x="965897" y="12946"/>
                    <a:pt x="965897" y="28915"/>
                  </a:cubicBezTo>
                  <a:lnTo>
                    <a:pt x="965897" y="646451"/>
                  </a:lnTo>
                  <a:cubicBezTo>
                    <a:pt x="965897" y="654119"/>
                    <a:pt x="962851" y="661474"/>
                    <a:pt x="957428" y="666897"/>
                  </a:cubicBezTo>
                  <a:cubicBezTo>
                    <a:pt x="952005" y="672319"/>
                    <a:pt x="944651" y="675366"/>
                    <a:pt x="936982" y="675366"/>
                  </a:cubicBezTo>
                  <a:lnTo>
                    <a:pt x="28915" y="675366"/>
                  </a:lnTo>
                  <a:cubicBezTo>
                    <a:pt x="12946" y="675366"/>
                    <a:pt x="0" y="662420"/>
                    <a:pt x="0" y="646451"/>
                  </a:cubicBezTo>
                  <a:lnTo>
                    <a:pt x="0" y="28915"/>
                  </a:lnTo>
                  <a:cubicBezTo>
                    <a:pt x="0" y="21246"/>
                    <a:pt x="3046" y="13892"/>
                    <a:pt x="8469" y="8469"/>
                  </a:cubicBezTo>
                  <a:cubicBezTo>
                    <a:pt x="13892" y="3046"/>
                    <a:pt x="21246" y="0"/>
                    <a:pt x="28915" y="0"/>
                  </a:cubicBezTo>
                  <a:close/>
                </a:path>
              </a:pathLst>
            </a:custGeom>
            <a:blipFill>
              <a:blip r:embed="rId3"/>
              <a:stretch>
                <a:fillRect l="-2473" t="0" r="-2473" b="0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998648" y="5514036"/>
            <a:ext cx="2148809" cy="3744264"/>
            <a:chOff x="0" y="0"/>
            <a:chExt cx="387588" cy="6753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87588" cy="675366"/>
            </a:xfrm>
            <a:custGeom>
              <a:avLst/>
              <a:gdLst/>
              <a:ahLst/>
              <a:cxnLst/>
              <a:rect r="r" b="b" t="t" l="l"/>
              <a:pathLst>
                <a:path h="675366" w="387588">
                  <a:moveTo>
                    <a:pt x="72058" y="0"/>
                  </a:moveTo>
                  <a:lnTo>
                    <a:pt x="315530" y="0"/>
                  </a:lnTo>
                  <a:cubicBezTo>
                    <a:pt x="355327" y="0"/>
                    <a:pt x="387588" y="32261"/>
                    <a:pt x="387588" y="72058"/>
                  </a:cubicBezTo>
                  <a:lnTo>
                    <a:pt x="387588" y="603308"/>
                  </a:lnTo>
                  <a:cubicBezTo>
                    <a:pt x="387588" y="643104"/>
                    <a:pt x="355327" y="675366"/>
                    <a:pt x="315530" y="675366"/>
                  </a:cubicBezTo>
                  <a:lnTo>
                    <a:pt x="72058" y="675366"/>
                  </a:lnTo>
                  <a:cubicBezTo>
                    <a:pt x="32261" y="675366"/>
                    <a:pt x="0" y="643104"/>
                    <a:pt x="0" y="603308"/>
                  </a:cubicBezTo>
                  <a:lnTo>
                    <a:pt x="0" y="72058"/>
                  </a:lnTo>
                  <a:cubicBezTo>
                    <a:pt x="0" y="32261"/>
                    <a:pt x="32261" y="0"/>
                    <a:pt x="72058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195336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573691" y="7270480"/>
            <a:ext cx="376800" cy="376800"/>
          </a:xfrm>
          <a:custGeom>
            <a:avLst/>
            <a:gdLst/>
            <a:ahLst/>
            <a:cxnLst/>
            <a:rect r="r" b="b" t="t" l="l"/>
            <a:pathLst>
              <a:path h="376800" w="376800">
                <a:moveTo>
                  <a:pt x="0" y="0"/>
                </a:moveTo>
                <a:lnTo>
                  <a:pt x="376800" y="0"/>
                </a:lnTo>
                <a:lnTo>
                  <a:pt x="376800" y="376800"/>
                </a:lnTo>
                <a:lnTo>
                  <a:pt x="0" y="37680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573691" y="7826665"/>
            <a:ext cx="396418" cy="396418"/>
          </a:xfrm>
          <a:custGeom>
            <a:avLst/>
            <a:gdLst/>
            <a:ahLst/>
            <a:cxnLst/>
            <a:rect r="r" b="b" t="t" l="l"/>
            <a:pathLst>
              <a:path h="396418" w="396418">
                <a:moveTo>
                  <a:pt x="0" y="0"/>
                </a:moveTo>
                <a:lnTo>
                  <a:pt x="396418" y="0"/>
                </a:lnTo>
                <a:lnTo>
                  <a:pt x="396418" y="396418"/>
                </a:lnTo>
                <a:lnTo>
                  <a:pt x="0" y="396418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2301065" y="7314418"/>
            <a:ext cx="1589987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DBD2D2"/>
                </a:solidFill>
                <a:latin typeface="Open Sauce"/>
                <a:ea typeface="Open Sauce"/>
                <a:cs typeface="Open Sauce"/>
                <a:sym typeface="Open Sauce"/>
              </a:rPr>
              <a:t>615-275-8778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301065" y="7890254"/>
            <a:ext cx="2602259" cy="24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60"/>
              </a:lnSpc>
              <a:spcBef>
                <a:spcPct val="0"/>
              </a:spcBef>
            </a:pPr>
            <a:r>
              <a:rPr lang="en-US" sz="1400">
                <a:solidFill>
                  <a:srgbClr val="DBD2D2"/>
                </a:solidFill>
                <a:latin typeface="Open Sauce"/>
                <a:ea typeface="Open Sauce"/>
                <a:cs typeface="Open Sauce"/>
                <a:sym typeface="Open Sauce"/>
              </a:rPr>
              <a:t>shamithajino@gmail.com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5296268" y="6185294"/>
            <a:ext cx="2431660" cy="2634589"/>
            <a:chOff x="0" y="0"/>
            <a:chExt cx="438607" cy="4752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38607" cy="475210"/>
            </a:xfrm>
            <a:custGeom>
              <a:avLst/>
              <a:gdLst/>
              <a:ahLst/>
              <a:cxnLst/>
              <a:rect r="r" b="b" t="t" l="l"/>
              <a:pathLst>
                <a:path h="475210" w="438607">
                  <a:moveTo>
                    <a:pt x="63676" y="0"/>
                  </a:moveTo>
                  <a:lnTo>
                    <a:pt x="374931" y="0"/>
                  </a:lnTo>
                  <a:cubicBezTo>
                    <a:pt x="391819" y="0"/>
                    <a:pt x="408015" y="6709"/>
                    <a:pt x="419956" y="18650"/>
                  </a:cubicBezTo>
                  <a:cubicBezTo>
                    <a:pt x="431898" y="30592"/>
                    <a:pt x="438607" y="46788"/>
                    <a:pt x="438607" y="63676"/>
                  </a:cubicBezTo>
                  <a:lnTo>
                    <a:pt x="438607" y="411534"/>
                  </a:lnTo>
                  <a:cubicBezTo>
                    <a:pt x="438607" y="428422"/>
                    <a:pt x="431898" y="444618"/>
                    <a:pt x="419956" y="456560"/>
                  </a:cubicBezTo>
                  <a:cubicBezTo>
                    <a:pt x="408015" y="468501"/>
                    <a:pt x="391819" y="475210"/>
                    <a:pt x="374931" y="475210"/>
                  </a:cubicBezTo>
                  <a:lnTo>
                    <a:pt x="63676" y="475210"/>
                  </a:lnTo>
                  <a:cubicBezTo>
                    <a:pt x="46788" y="475210"/>
                    <a:pt x="30592" y="468501"/>
                    <a:pt x="18650" y="456560"/>
                  </a:cubicBezTo>
                  <a:cubicBezTo>
                    <a:pt x="6709" y="444618"/>
                    <a:pt x="0" y="428422"/>
                    <a:pt x="0" y="411534"/>
                  </a:cubicBezTo>
                  <a:lnTo>
                    <a:pt x="0" y="63676"/>
                  </a:lnTo>
                  <a:cubicBezTo>
                    <a:pt x="0" y="46788"/>
                    <a:pt x="6709" y="30592"/>
                    <a:pt x="18650" y="18650"/>
                  </a:cubicBezTo>
                  <a:cubicBezTo>
                    <a:pt x="30592" y="6709"/>
                    <a:pt x="46788" y="0"/>
                    <a:pt x="63676" y="0"/>
                  </a:cubicBezTo>
                  <a:close/>
                </a:path>
              </a:pathLst>
            </a:custGeom>
            <a:blipFill>
              <a:blip r:embed="rId9"/>
              <a:stretch>
                <a:fillRect l="-31309" t="0" r="-31309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DAHCTF3dKig</dc:identifier>
  <dcterms:modified xsi:type="dcterms:W3CDTF">2011-08-01T06:04:30Z</dcterms:modified>
  <cp:revision>1</cp:revision>
  <dc:title>Shamitha Joseph</dc:title>
</cp:coreProperties>
</file>